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7d959f40f0d742a8"/>
    <p:sldId id="258" r:id="R7783abd3558f40b6"/>
    <p:sldId id="259" r:id="R98504bd08ed74b19"/>
    <p:sldId id="260" r:id="R5a54162a888b4be7"/>
    <p:sldId id="261" r:id="R0dbfcf2e113c4c09"/>
    <p:sldId id="262" r:id="Rb4900f99b5c24e3d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20257B-7048-4D06-971C-CCC80562F921}">
          <p14:sldIdLst>
            <p14:sldId id="257"/>
          </p14:sldIdLst>
        </p14:section>
        <p14:section name="Financial performance" id="{419C00AF-1312-4AA2-9D6B-38127289F1EE}">
          <p14:sldIdLst>
            <p14:sldId id="258"/>
            <p14:sldId id="259"/>
            <p14:sldId id="260"/>
            <p14:sldId id="261"/>
          </p14:sldIdLst>
        </p14:section>
        <p14:section name="Capital allocation" id="{D9EA0F94-41CC-4566-AFC6-537E6451E93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7d959f40f0d742a8" /><Relationship Type="http://schemas.openxmlformats.org/officeDocument/2006/relationships/slide" Target="/ppt/slides/slide3.xml" Id="R7783abd3558f40b6" /><Relationship Type="http://schemas.openxmlformats.org/officeDocument/2006/relationships/slide" Target="/ppt/slides/slide4.xml" Id="R98504bd08ed74b19" /><Relationship Type="http://schemas.openxmlformats.org/officeDocument/2006/relationships/slide" Target="/ppt/slides/slide5.xml" Id="R5a54162a888b4be7" /><Relationship Type="http://schemas.openxmlformats.org/officeDocument/2006/relationships/slide" Target="/ppt/slides/slide6.xml" Id="R0dbfcf2e113c4c09" /><Relationship Type="http://schemas.openxmlformats.org/officeDocument/2006/relationships/slide" Target="/ppt/slides/slide7.xml" Id="Rb4900f99b5c24e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a591cdfbc4fd7" /><Relationship Type="http://schemas.openxmlformats.org/officeDocument/2006/relationships/image" Target="/ppt/media/image.png" Id="Rc8cbc8cdf5db4d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e3e1a6879475e" /><Relationship Type="http://schemas.openxmlformats.org/officeDocument/2006/relationships/image" Target="/ppt/media/image2.png" Id="R91438bb3a6964e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2f50e331c4219" /><Relationship Type="http://schemas.openxmlformats.org/officeDocument/2006/relationships/image" Target="/ppt/media/image3.png" Id="R09f446f21b584f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f93a542f344cd" /></Relationships>
</file>

<file path=ppt/slideLayouts/slideLayout2.xml><?xml version="1.0" encoding="utf-8"?>
<p:sldLayout xmlns:r="http://schemas.openxmlformats.org/officeDocument/2006/relationships" xmlns:a="http://schemas.openxmlformats.org/drawingml/2006/main" xmlns:p="http://schemas.openxmlformats.org/presentationml/2006/main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/>
          <p:cNvSpPr>
            <a:spLocks/>
          </p:cNvSpPr>
          <p:nvPr>
            <p:ph type="title" hasCustomPrompt="1"/>
          </p:nvPr>
        </p:nvSpPr>
        <p:spPr>
          <a:xfrm>
            <a:off x="508000" y="457200"/>
            <a:ext cx="10160000" cy="5588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/>
            </a:lvl1pPr>
          </a:lstStyle>
          <a:p>
            <a:r>
              <a:rPr/>
              <a:t>Title</a:t>
            </a:r>
          </a:p>
        </p:txBody>
      </p:sp>
      <p:sp>
        <p:nvSpPr>
          <p:cNvPr id="5" name="TextBox 5"/>
          <p:cNvSpPr>
            <a:spLocks/>
          </p:cNvSpPr>
          <p:nvPr>
            <p:ph idx="1" hasCustomPrompt="1"/>
          </p:nvPr>
        </p:nvSpPr>
        <p:spPr>
          <a:xfrm>
            <a:off x="508000" y="1270000"/>
            <a:ext cx="5461000" cy="406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2000">
                <a:solidFill>
                  <a:schemeClr val="dk2"/>
                </a:solidFill>
                <a:latin typeface="+mj-lt"/>
              </a:defRPr>
            </a:lvl1pPr>
          </a:lstStyle>
          <a:p>
            <a:r>
              <a:rPr/>
              <a:t>left_heading</a:t>
            </a:r>
          </a:p>
        </p:txBody>
      </p:sp>
      <p:sp>
        <p:nvSpPr>
          <p:cNvPr id="6" name="TextBox 6"/>
          <p:cNvSpPr>
            <a:spLocks/>
          </p:cNvSpPr>
          <p:nvPr>
            <p:ph idx="2" hasCustomPrompt="1"/>
          </p:nvPr>
        </p:nvSpPr>
        <p:spPr>
          <a:xfrm>
            <a:off x="6223000" y="1270000"/>
            <a:ext cx="5461000" cy="406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2000">
                <a:solidFill>
                  <a:schemeClr val="dk2"/>
                </a:solidFill>
                <a:latin typeface="+mj-lt"/>
              </a:defRPr>
            </a:lvl1pPr>
          </a:lstStyle>
          <a:p>
            <a:r>
              <a:rPr/>
              <a:t>right_heading</a:t>
            </a:r>
          </a:p>
        </p:txBody>
      </p:sp>
      <p:sp>
        <p:nvSpPr>
          <p:cNvPr id="7" name="TextBox 7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FFC6633B-353D-4DB7-AC8B-443FBF186AB6}" type="slidenum">
              <a:rPr lang="en-US"/>
              <a:t>‹#›</a:t>
            </a:fld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c8cbc8cdf5db4d4b"/>
          <a:stretch>
            <a:fillRect/>
          </a:stretch>
        </p:blipFill>
        <p:spPr>
          <a:xfrm>
            <a:off x="10871200" y="584200"/>
            <a:ext cx="812800" cy="254000"/>
          </a:xfrm>
          <a:prstGeom prst="rect"/>
        </p:spPr>
      </p:pic>
      <p:sp>
        <p:nvSpPr>
          <p:cNvPr id="2" name="Shape 2"/>
          <p:cNvSpPr>
            <a:spLocks/>
          </p:cNvSpPr>
          <p:nvPr/>
        </p:nvSpPr>
        <p:spPr>
          <a:xfrm>
            <a:off x="508000" y="1117600"/>
            <a:ext cx="11176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sp>
      <p:sp>
        <p:nvSpPr>
          <p:cNvPr id="8" name="TextBox 8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Confidential. Prepared for board discussion.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3.xml><?xml version="1.0" encoding="utf-8"?>
<p:sldLayout xmlns:r="http://schemas.openxmlformats.org/officeDocument/2006/relationships" xmlns:a="http://schemas.openxmlformats.org/drawingml/2006/main" xmlns:p="http://schemas.openxmlformats.org/presentationml/2006/main" preserve="1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/>
          <p:cNvSpPr>
            <a:spLocks/>
          </p:cNvSpPr>
          <p:nvPr>
            <p:ph type="title" hasCustomPrompt="1"/>
          </p:nvPr>
        </p:nvSpPr>
        <p:spPr>
          <a:xfrm>
            <a:off x="508000" y="457200"/>
            <a:ext cx="10160000" cy="5588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/>
            </a:lvl1pPr>
          </a:lstStyle>
          <a:p>
            <a:r>
              <a:rPr/>
              <a:t>Title</a:t>
            </a:r>
          </a:p>
        </p:txBody>
      </p:sp>
      <p:sp>
        <p:nvSpPr>
          <p:cNvPr id="5" name="TextBox 5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45875E4F-AEE0-4FA0-9789-D5F78ABABF2E}" type="slidenum">
              <a:rPr lang="en-US"/>
              <a:t>‹#›</a:t>
            </a:fld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91438bb3a6964e85"/>
          <a:stretch>
            <a:fillRect/>
          </a:stretch>
        </p:blipFill>
        <p:spPr>
          <a:xfrm>
            <a:off x="10871200" y="584200"/>
            <a:ext cx="812800" cy="254000"/>
          </a:xfrm>
          <a:prstGeom prst="rect"/>
        </p:spPr>
      </p:pic>
      <p:sp>
        <p:nvSpPr>
          <p:cNvPr id="2" name="Shape 2"/>
          <p:cNvSpPr>
            <a:spLocks/>
          </p:cNvSpPr>
          <p:nvPr/>
        </p:nvSpPr>
        <p:spPr>
          <a:xfrm>
            <a:off x="508000" y="1117600"/>
            <a:ext cx="11176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sp>
      <p:sp>
        <p:nvSpPr>
          <p:cNvPr id="6" name="TextBox 6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Confidential. Prepared for board discussion.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4.xml><?xml version="1.0" encoding="utf-8"?>
<p:sldLayout xmlns:r="http://schemas.openxmlformats.org/officeDocument/2006/relationships" xmlns:a="http://schemas.openxmlformats.org/drawingml/2006/main" xmlns:p="http://schemas.openxmlformats.org/presentationml/2006/main" preserve="1">
  <p:cSld name="Cover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/>
          <p:cNvSpPr>
            <a:spLocks/>
          </p:cNvSpPr>
          <p:nvPr>
            <p:ph type="title" hasCustomPrompt="1"/>
          </p:nvPr>
        </p:nvSpPr>
        <p:spPr>
          <a:xfrm>
            <a:off x="762000" y="2413000"/>
            <a:ext cx="10668000" cy="1143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4000" b="1">
                <a:solidFill>
                  <a:schemeClr val="lt1"/>
                </a:solidFill>
              </a:defRPr>
            </a:lvl1pPr>
          </a:lstStyle>
          <a:p>
            <a:r>
              <a:rPr/>
              <a:t>Title</a:t>
            </a:r>
          </a:p>
        </p:txBody>
      </p:sp>
      <p:sp>
        <p:nvSpPr>
          <p:cNvPr id="5" name="TextBox 5"/>
          <p:cNvSpPr>
            <a:spLocks/>
          </p:cNvSpPr>
          <p:nvPr>
            <p:ph idx="1" hasCustomPrompt="1"/>
          </p:nvPr>
        </p:nvSpPr>
        <p:spPr>
          <a:xfrm>
            <a:off x="762000" y="2032000"/>
            <a:ext cx="10668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1100" b="1">
                <a:solidFill>
                  <a:schemeClr val="accent3"/>
                </a:solidFill>
              </a:defRPr>
            </a:lvl1pPr>
          </a:lstStyle>
          <a:p>
            <a:r>
              <a:rPr/>
              <a:t>kicker</a:t>
            </a:r>
          </a:p>
        </p:txBody>
      </p:sp>
      <p:sp>
        <p:nvSpPr>
          <p:cNvPr id="6" name="TextBox 6"/>
          <p:cNvSpPr>
            <a:spLocks/>
          </p:cNvSpPr>
          <p:nvPr>
            <p:ph idx="2" hasCustomPrompt="1"/>
          </p:nvPr>
        </p:nvSpPr>
        <p:spPr>
          <a:xfrm>
            <a:off x="762000" y="3683000"/>
            <a:ext cx="10668000" cy="508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1800">
                <a:solidFill>
                  <a:schemeClr val="lt2"/>
                </a:solidFill>
              </a:defRPr>
            </a:lvl1pPr>
          </a:lstStyle>
          <a:p>
            <a:r>
              <a:rPr/>
              <a:t>subtitle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09f446f21b584f6a"/>
          <a:stretch>
            <a:fillRect/>
          </a:stretch>
        </p:blipFill>
        <p:spPr>
          <a:xfrm>
            <a:off x="762889" y="803910"/>
            <a:ext cx="1353312" cy="421523"/>
          </a:xfrm>
          <a:prstGeom prst="rect"/>
        </p:spPr>
      </p:pic>
      <p:sp>
        <p:nvSpPr>
          <p:cNvPr id="2" name="Shape 2"/>
          <p:cNvSpPr>
            <a:spLocks/>
          </p:cNvSpPr>
          <p:nvPr/>
        </p:nvSpPr>
        <p:spPr>
          <a:xfrm>
            <a:off x="762000" y="1778000"/>
            <a:ext cx="1016000" cy="50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preserve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3"/>
          <p:cNvSpPr>
            <a:spLocks/>
          </p:cNvSpPr>
          <p:nvPr>
            <p:ph type="title" hasCustomPrompt="1"/>
          </p:nvPr>
        </p:nvSpPr>
        <p:spPr>
          <a:xfrm>
            <a:off x="762000" y="2540000"/>
            <a:ext cx="8128000" cy="889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4000" b="1">
                <a:solidFill>
                  <a:schemeClr val="lt1"/>
                </a:solidFill>
              </a:defRPr>
            </a:lvl1pPr>
          </a:lstStyle>
          <a:p>
            <a:r>
              <a:rPr/>
              <a:t>Title</a:t>
            </a:r>
          </a:p>
        </p:txBody>
      </p:sp>
      <p:sp>
        <p:nvSpPr>
          <p:cNvPr id="4" name="TextBox 4"/>
          <p:cNvSpPr>
            <a:spLocks/>
          </p:cNvSpPr>
          <p:nvPr>
            <p:ph idx="1" hasCustomPrompt="1"/>
          </p:nvPr>
        </p:nvSpPr>
        <p:spPr>
          <a:xfrm>
            <a:off x="762000" y="3556000"/>
            <a:ext cx="8128000" cy="101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1800">
                <a:solidFill>
                  <a:schemeClr val="lt1"/>
                </a:solidFill>
              </a:defRPr>
            </a:lvl1pPr>
          </a:lstStyle>
          <a:p>
            <a:r>
              <a:rPr/>
              <a:t>summary</a:t>
            </a:r>
          </a:p>
        </p:txBody>
      </p:sp>
      <p:sp>
        <p:nvSpPr>
          <p:cNvPr id="5" name="TextBox 5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lt2"/>
                </a:solidFill>
                <a:latin typeface="+mn-lt"/>
              </a:defRPr>
            </a:lvl1pPr>
          </a:lstStyle>
          <a:p>
            <a:fld id="{BF00A61B-D8FF-4F1C-8400-C5A8E22F0841}" type="slidenum">
              <a:rPr lang="en-US"/>
              <a:t>‹#›</a:t>
            </a:fld>
            <a:endParaRPr lang="en-US"/>
          </a:p>
        </p:txBody>
      </p:sp>
      <p:sp>
        <p:nvSpPr>
          <p:cNvPr id="2" name="Shape 2"/>
          <p:cNvSpPr>
            <a:spLocks/>
          </p:cNvSpPr>
          <p:nvPr/>
        </p:nvSpPr>
        <p:spPr>
          <a:xfrm>
            <a:off x="9398000" y="1905000"/>
            <a:ext cx="2032000" cy="3048000"/>
          </a:xfrm>
          <a:prstGeom prst="chevron">
            <a:avLst/>
          </a:prstGeom>
          <a:solidFill>
            <a:schemeClr val="lt1">
              <a:alpha val="15000"/>
            </a:schemeClr>
          </a:solidFill>
          <a:ln w="0">
            <a:noFill/>
          </a:ln>
        </p:spPr>
      </p:sp>
    </p:spTree>
  </p:cSld>
  <p:clrMapOvr>
    <a:masterClrMapping xmlns:a="http://schemas.openxmlformats.org/drawingml/2006/main"/>
  </p:clrMapOvr>
  <p:hf hdr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Id12" /><Relationship Type="http://schemas.openxmlformats.org/officeDocument/2006/relationships/slideLayout" Target="/ppt/slideLayouts/slideLayout2.xml" Id="R1afea1c535454f10" /><Relationship Type="http://schemas.openxmlformats.org/officeDocument/2006/relationships/slideLayout" Target="/ppt/slideLayouts/slideLayout3.xml" Id="R555cb9f7f7384109" /><Relationship Type="http://schemas.openxmlformats.org/officeDocument/2006/relationships/slideLayout" Target="/ppt/slideLayouts/slideLayout4.xml" Id="Rc8cd2b7b4a2e4aca" /><Relationship Type="http://schemas.openxmlformats.org/officeDocument/2006/relationships/slideLayout" Target="/ppt/slideLayouts/slideLayout5.xml" Id="R1b1fa735683b408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Acm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DC98E-7245-506C-4DA3-0445A9E6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EE9F-CC31-DF39-A062-B2B15B6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E38B-7287-F4F9-DAB0-D29023A03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9552-342F-9B46-5A56-D78EBE59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C071-B40B-CD92-E682-4B644211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1afea1c535454f10"/>
    <p:sldLayoutId id="2147483651" r:id="R555cb9f7f7384109"/>
    <p:sldLayoutId id="2147483652" r:id="Rc8cd2b7b4a2e4aca"/>
    <p:sldLayoutId id="2147483653" r:id="R1b1fa735683b408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kern="1200">
          <a:solidFill>
            <a:schemeClr val="dk2"/>
          </a:solidFill>
          <a:latin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600" b="0" i="0" u="none" kern="1200">
          <a:solidFill>
            <a:schemeClr val="dk1"/>
          </a:solidFill>
          <a:latin typeface="+mn-lt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–"/>
        <a:defRPr sz="1400" b="0" i="0" u="none" kern="1200">
          <a:solidFill>
            <a:schemeClr val="dk1"/>
          </a:solidFill>
          <a:latin typeface="+mn-lt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·"/>
        <a:defRPr sz="1200" b="0" i="0" u="none" kern="1200">
          <a:solidFill>
            <a:schemeClr val="dk1"/>
          </a:solidFill>
          <a:latin typeface="+mn-l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633d3353fac4e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f62109cd8f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23072272fe46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c8cd01eeaf4df6" /><Relationship Type="http://schemas.openxmlformats.org/officeDocument/2006/relationships/chart" Target="/ppt/slides/charts/chart1.xml" Id="Rd404bee241e14a11" /><Relationship Type="http://schemas.openxmlformats.org/officeDocument/2006/relationships/hyperlink" Target="https://example.com/acme/s-1a" TargetMode="External" Id="R7768d89c139f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4feed4a4be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548ee7fc00421b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c2e97d83f1104b35" /></Relationships>
</file>

<file path=ppt/slides/charts/chart1.xml><?xml version="1.0" encoding="utf-8"?>
<c:chartSpace xmlns:c="http://schemas.openxmlformats.org/drawingml/2006/chart"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Space</c:v>
                </c:pt>
              </c:strCache>
            </c:strRef>
          </c:tx>
          <c:spPr>
            <a:solidFill xmlns:a="http://schemas.openxmlformats.org/drawingml/2006/main">
              <a:schemeClr val="accent4">
                <a:lumMod val="60000"/>
                <a:lumOff val="40000"/>
              </a:schemeClr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3557</c:v>
                </c:pt>
                <c:pt idx="1">
                  <c:v>3796</c:v>
                </c:pt>
                <c:pt idx="2">
                  <c:v>4086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Connectivity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3869</c:v>
                </c:pt>
                <c:pt idx="1">
                  <c:v>7599</c:v>
                </c:pt>
                <c:pt idx="2">
                  <c:v>11387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</c:v>
                </c:pt>
              </c:strCache>
            </c:strRef>
          </c:tx>
          <c:spPr>
            <a:solidFill xmlns:a="http://schemas.openxmlformats.org/drawingml/2006/main">
              <a:schemeClr val="accent3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2961</c:v>
                </c:pt>
                <c:pt idx="1">
                  <c:v>2620</c:v>
                </c:pt>
                <c:pt idx="2">
                  <c:v>3201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 xmlns:a="http://schemas.openxmlformats.org/drawingml/2006/main"/>
          <a:ln xmlns:a="http://schemas.openxmlformats.org/drawingml/2006/main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/>
          <a:p xmlns:a="http://schemas.openxmlformats.org/drawingml/2006/main">
            <a:pPr>
              <a:defRPr sz="1000" b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pPr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20000"/>
          <c:min val="0"/>
        </c:scaling>
        <c:delete val="1"/>
        <c:axPos val="l"/>
        <c:majorTickMark val="none"/>
        <c:minorTickMark val="none"/>
        <c:tickLblPos val="nextTo"/>
        <c:spPr>
          <a:noFill xmlns:a="http://schemas.openxmlformats.org/drawingml/2006/main"/>
          <a:ln xmlns:a="http://schemas.openxmlformats.org/drawingml/2006/main">
            <a:noFill/>
          </a:ln>
        </c:spPr>
        <c:txPr>
          <a:bodyPr xmlns:a="http://schemas.openxmlformats.org/drawingml/2006/main"/>
          <a:p xmlns:a="http://schemas.openxmlformats.org/drawingml/2006/main">
            <a:pPr>
              <a:defRPr sz="1000" b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pPr>
          </a:p>
        </c:txPr>
        <c:crossAx val="111111111"/>
        <c:crosses val="autoZero"/>
        <c:crossBetween val="between"/>
        <c:majorUnit val="2000"/>
      </c:valAx>
    </c:plotArea>
    <c:legend>
      <c:legendPos val="b"/>
      <c:overlay val="0"/>
      <c:txPr>
        <a:bodyPr xmlns:a="http://schemas.openxmlformats.org/drawingml/2006/main"/>
        <a:p xmlns:a="http://schemas.openxmlformats.org/drawingml/2006/main">
          <a:pPr>
            <a:defRPr sz="1000" b="0">
              <a:solidFill>
                <a:schemeClr val="dk1">
                  <a:lumMod val="50000"/>
                  <a:lumOff val="50000"/>
                </a:schemeClr>
              </a:solidFill>
              <a:latin typeface="+mn-lt"/>
            </a:defRPr>
          </a:pPr>
        </a:p>
      </c:txPr>
    </c:legend>
    <c:plotVisOnly val="1"/>
    <c:dispBlanksAs val="gap"/>
  </c:chart>
  <c:externalData xmlns:r="http://schemas.openxmlformats.org/officeDocument/2006/relationships" r:id="Rc2e97d83f1104b35">
    <c:autoUpdate val="0"/>
  </c:externalData>
</c:chartSpace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4000" b="1">
                <a:solidFill>
                  <a:schemeClr val="lt1"/>
                </a:solidFill>
              </a:defRPr>
            </a:lvl1pPr>
          </a:lstStyle>
          <a:p>
            <a:r>
              <a:rPr/>
              <a:t>Q2 2026 Board Update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chemeClr val="accent3"/>
                </a:solidFill>
              </a:defRPr>
            </a:lvl1pPr>
          </a:lstStyle>
          <a:p>
            <a:r>
              <a:rPr/>
              <a:t>Acme Corporation</a:t>
            </a:r>
          </a:p>
        </p:txBody>
      </p:sp>
      <p:sp>
        <p:nvSpPr>
          <p:cNvPr id="4" name="Content Placeholder"/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800">
                <a:solidFill>
                  <a:schemeClr val="lt2"/>
                </a:solidFill>
              </a:defRPr>
            </a:lvl1pPr>
          </a:lstStyle>
          <a:p>
            <a:r>
              <a:rPr/>
              <a:t>August 2026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4000" b="1">
                <a:solidFill>
                  <a:schemeClr val="lt1"/>
                </a:solidFill>
              </a:defRPr>
            </a:lvl1pPr>
          </a:lstStyle>
          <a:p>
            <a:r>
              <a:rPr/>
              <a:t>Financial performance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800">
                <a:solidFill>
                  <a:schemeClr val="lt1"/>
                </a:solidFill>
              </a:defRPr>
            </a:lvl1pPr>
          </a:lstStyle>
          <a:p>
            <a:r>
              <a:rPr/>
              <a:t>Revenue of $12.5B in the first half of 2026, up 54%, with Connectivity carrying the operating income.</a:t>
            </a:r>
          </a:p>
        </p:txBody>
      </p:sp>
      <p:sp>
        <p:nvSpPr>
          <p:cNvPr id="4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lt2"/>
                </a:solidFill>
                <a:latin typeface="+mn-lt"/>
              </a:defRPr>
            </a:lvl1pPr>
          </a:lstStyle>
          <a:p xmlns:a="http://schemas.openxmlformats.org/drawingml/2006/main">
            <a:fld id="{BF00A61B-D8FF-4F1C-8400-C5A8E22F0841}" type="slidenum">
              <a:rPr lang="en-US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Connectivity funds the build-out in AI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000">
                <a:solidFill>
                  <a:schemeClr val="dk2"/>
                </a:solidFill>
                <a:latin typeface="+mj-lt"/>
              </a:defRPr>
            </a:lvl1pPr>
          </a:lstStyle>
          <a:p>
            <a:r>
              <a:rPr/>
              <a:t>Connectivity</a:t>
            </a:r>
          </a:p>
        </p:txBody>
      </p:sp>
      <p:sp>
        <p:nvSpPr>
          <p:cNvPr id="4" name="Content Placeholder"/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000">
                <a:solidFill>
                  <a:schemeClr val="dk2"/>
                </a:solidFill>
                <a:latin typeface="+mj-lt"/>
              </a:defRPr>
            </a:lvl1pPr>
          </a:lstStyle>
          <a:p>
            <a:r>
              <a:rPr/>
              <a:t>AI</a:t>
            </a:r>
          </a:p>
        </p:txBody>
      </p:sp>
      <p:sp>
        <p:nvSpPr>
          <p:cNvPr id="6" name="TextBox 6"/>
          <p:cNvSpPr>
            <a:spLocks/>
          </p:cNvSpPr>
          <p:nvPr/>
        </p:nvSpPr>
        <p:spPr>
          <a:xfrm>
            <a:off x="508000" y="1778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chemeClr val="accent2"/>
                </a:solidFill>
                <a:latin typeface="+mn-lt"/>
              </a:rPr>
              <a:t>Financial performance</a:t>
            </a:r>
            <a:endParaRPr sz="1100" b="1" i="0" u="none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TextBox 7"/>
          <p:cNvSpPr>
            <a:spLocks/>
          </p:cNvSpPr>
          <p:nvPr/>
        </p:nvSpPr>
        <p:spPr>
          <a:xfrm>
            <a:off x="508000" y="1778000"/>
            <a:ext cx="5461000" cy="4318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accent6"/>
                </a:solidFill>
                <a:latin typeface="+mn-lt"/>
              </a:rPr>
              <a:t>$4.4B</a:t>
            </a:r>
            <a:r>
              <a:rPr sz="1800" b="1" i="0" u="none">
                <a:solidFill>
                  <a:schemeClr val="dk1"/>
                </a:solidFill>
                <a:latin typeface="+mn-lt"/>
              </a:rPr>
              <a:t> operating income in 2025, up from just $0.5B in 2023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Revenue up from $3.9B to $11.4B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Adjusted EBITDA margin of 63%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45720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–"/>
            </a:pPr>
            <a:r>
              <a:rPr sz="1400" b="0" i="0" u="none">
                <a:solidFill>
                  <a:schemeClr val="dk1"/>
                </a:solidFill>
                <a:latin typeface="+mn-lt"/>
              </a:rPr>
              <a:t>62% in the first half of 2026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Capital expenditures of $4.2B, below adjusted EBITDA</a:t>
            </a:r>
            <a:endParaRPr sz="1800" b="1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8" name="TextBox 8"/>
          <p:cNvSpPr>
            <a:spLocks/>
          </p:cNvSpPr>
          <p:nvPr/>
        </p:nvSpPr>
        <p:spPr>
          <a:xfrm>
            <a:off x="6223000" y="1778000"/>
            <a:ext cx="5461000" cy="4318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rgbClr val="C0392B"/>
                </a:solidFill>
                <a:latin typeface="+mn-lt"/>
              </a:rPr>
              <a:t>($6.4B)</a:t>
            </a:r>
            <a:r>
              <a:rPr sz="1800" b="1" i="0" u="none">
                <a:solidFill>
                  <a:schemeClr val="dk1"/>
                </a:solidFill>
                <a:latin typeface="+mn-lt"/>
              </a:rPr>
              <a:t> operating loss in 2025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 startAt="1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Capital expenditures of $12.7B, 61% of the company's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 startAt="1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R&amp;D of $5.1B, up from $0.2B in 2023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 startAt="1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Adjusted EBITDA turned positive in the first half of 2026, at $0.5B</a:t>
            </a:r>
            <a:endParaRPr sz="1800" b="1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9" name="TextBox 9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 and Q2 2026 10-Q, reportable segments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5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FFC6633B-353D-4DB7-AC8B-443FBF186AB6}" type="slidenum">
              <a:rPr lang="en-US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Connectivity revenue nearly tripled in two years</a:t>
            </a:r>
          </a:p>
        </p:txBody>
      </p:sp>
      <p:sp>
        <p:nvSpPr>
          <p:cNvPr id="5" name="TextBox 5"/>
          <p:cNvSpPr>
            <a:spLocks/>
          </p:cNvSpPr>
          <p:nvPr/>
        </p:nvSpPr>
        <p:spPr>
          <a:xfrm>
            <a:off x="508000" y="1778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chemeClr val="accent2"/>
                </a:solidFill>
                <a:latin typeface="+mn-lt"/>
              </a:rPr>
              <a:t>Financial performance</a:t>
            </a:r>
            <a:endParaRPr sz="1100" b="1" i="0" u="none">
              <a:solidFill>
                <a:schemeClr val="accent2"/>
              </a:solidFill>
              <a:latin typeface="+mn-lt"/>
            </a:endParaRPr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508000" y="1270000"/>
          <a:ext cx="5461000" cy="4826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404bee241e14a11"/>
          </a:graphicData>
        </a:graphic>
      </p:graphicFrame>
      <p:sp>
        <p:nvSpPr>
          <p:cNvPr id="6" name="TextBox 6"/>
          <p:cNvSpPr>
            <a:spLocks/>
          </p:cNvSpPr>
          <p:nvPr/>
        </p:nvSpPr>
        <p:spPr>
          <a:xfrm>
            <a:off x="6223000" y="1270000"/>
            <a:ext cx="5461000" cy="2159000"/>
          </a:xfrm>
          <a:prstGeom prst="roundRect">
            <a:avLst>
              <a:gd name="adj" fmla="val 4706"/>
            </a:avLst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dk2"/>
                </a:solidFill>
                <a:latin typeface="+mn-lt"/>
              </a:rPr>
              <a:t>2025 revenue by segment</a:t>
            </a:r>
            <a:endParaRPr sz="1800" b="1" i="0" u="none">
              <a:solidFill>
                <a:schemeClr val="dk2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2"/>
                </a:solidFill>
                <a:latin typeface="+mn-lt"/>
              </a:rPr>
              <a:t>Connectivity: </a:t>
            </a:r>
            <a:r>
              <a:rPr sz="1600" b="1" i="0" u="none">
                <a:solidFill>
                  <a:schemeClr val="accent1"/>
                </a:solidFill>
                <a:latin typeface="+mn-lt"/>
              </a:rPr>
              <a:t>$11.4B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2"/>
                </a:solidFill>
                <a:latin typeface="+mn-lt"/>
              </a:rPr>
              <a:t>Space: $4.1B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2"/>
                </a:solidFill>
                <a:latin typeface="+mn-lt"/>
              </a:rPr>
              <a:t>AI: $3.2B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TextBox 7"/>
          <p:cNvSpPr>
            <a:spLocks/>
          </p:cNvSpPr>
          <p:nvPr/>
        </p:nvSpPr>
        <p:spPr>
          <a:xfrm>
            <a:off x="6223000" y="3683000"/>
            <a:ext cx="5461000" cy="101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Total revenue of </a:t>
            </a:r>
            <a:r>
              <a:rPr sz="1600" b="1" i="0" u="none">
                <a:solidFill>
                  <a:schemeClr val="dk1"/>
                </a:solidFill>
                <a:latin typeface="+mn-lt"/>
              </a:rPr>
              <a:t>$18.7B</a:t>
            </a:r>
            <a:r>
              <a:rPr sz="1600" b="0" i="0" u="none">
                <a:solidFill>
                  <a:schemeClr val="dk1"/>
                </a:solidFill>
                <a:latin typeface="+mn-lt"/>
              </a:rPr>
              <a:t> in 2025, up 33% on 2024.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>
                <a:solidFill>
                  <a:schemeClr val="dk1"/>
                </a:solidFill>
                <a:latin typeface="+mn-lt"/>
              </a:rPr>
              <a:t>First half of 2026:</a:t>
            </a:r>
            <a:r>
              <a:rPr sz="1600" b="0" i="0" u="none">
                <a:solidFill>
                  <a:schemeClr val="dk1"/>
                </a:solidFill>
                <a:latin typeface="+mn-lt"/>
              </a:rPr>
              <a:t> $12.5B, up 54% on the first half of 2025.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8" name="TextBox 8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</a:t>
            </a:r>
            <a:r>
              <a:rPr sz="900" b="0" i="1">
                <a:latin typeface="+mn-lt"/>
                <a:hlinkClick xmlns:r="http://schemas.openxmlformats.org/officeDocument/2006/relationships" r:id="R7768d89c139f4ee5"/>
              </a:rPr>
              <a:t>Acme S-1/A</a:t>
            </a: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, reportable segments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45875E4F-AEE0-4FA0-9789-D5F78ABABF2E}" type="slidenum">
              <a:rPr lang="en-US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Revenue rose 54% in H1; the operating loss doubled</a:t>
            </a:r>
          </a:p>
        </p:txBody>
      </p:sp>
      <p:sp>
        <p:nvSpPr>
          <p:cNvPr id="5" name="TextBox 5"/>
          <p:cNvSpPr>
            <a:spLocks/>
          </p:cNvSpPr>
          <p:nvPr/>
        </p:nvSpPr>
        <p:spPr>
          <a:xfrm>
            <a:off x="508000" y="1778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chemeClr val="accent2"/>
                </a:solidFill>
                <a:latin typeface="+mn-lt"/>
              </a:rPr>
              <a:t>Financial performance</a:t>
            </a:r>
            <a:endParaRPr sz="1100" b="1" i="0" u="none">
              <a:solidFill>
                <a:schemeClr val="accent2"/>
              </a:solidFill>
              <a:latin typeface="+mn-lt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8000" y="1270000"/>
          <a:ext cx="11176000" cy="2743200"/>
        </p:xfrm>
        <a:graphic>
          <a:graphicData uri="http://schemas.openxmlformats.org/drawingml/2006/table">
            <a:tbl>
              <a:tblPr firstRow="1" bandRow="0"/>
              <a:tblGrid>
                <a:gridCol w="2286000"/>
                <a:gridCol w="2794000"/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measure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segment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H1 2025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H1 2026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Change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Revenue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Space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1,611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1,581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rgbClr val="C0392B"/>
                          </a:solidFill>
                          <a:latin typeface="+mn-lt"/>
                        </a:rPr>
                        <a:t>-2%</a:t>
                      </a:r>
                      <a:endParaRPr sz="1600" b="0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Connectivity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5,062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7,548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49%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AI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1,465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3,379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131%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8,138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12,508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54%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Operating income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Space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rgbClr val="C0392B"/>
                          </a:solidFill>
                          <a:latin typeface="+mn-lt"/>
                        </a:rPr>
                        <a:t>(439)</a:t>
                      </a:r>
                      <a:endParaRPr sz="1600" b="0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rgbClr val="C0392B"/>
                          </a:solidFill>
                          <a:latin typeface="+mn-lt"/>
                        </a:rPr>
                        <a:t>(1,204)</a:t>
                      </a:r>
                      <a:endParaRPr sz="1600" b="0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Connectivity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1,956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2,844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45%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AI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rgbClr val="C0392B"/>
                          </a:solidFill>
                          <a:latin typeface="+mn-lt"/>
                        </a:rPr>
                        <a:t>(2,460)</a:t>
                      </a:r>
                      <a:endParaRPr sz="1600" b="0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rgbClr val="C0392B"/>
                          </a:solidFill>
                          <a:latin typeface="+mn-lt"/>
                        </a:rPr>
                        <a:t>(3,726)</a:t>
                      </a:r>
                      <a:endParaRPr sz="1600" b="0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C0392B"/>
                          </a:solidFill>
                          <a:latin typeface="+mn-lt"/>
                        </a:rPr>
                        <a:t>(943)</a:t>
                      </a:r>
                      <a:endParaRPr sz="1600" b="1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C0392B"/>
                          </a:solidFill>
                          <a:latin typeface="+mn-lt"/>
                        </a:rPr>
                        <a:t>(2,086)</a:t>
                      </a:r>
                      <a:endParaRPr sz="1600" b="1" i="0" u="none">
                        <a:solidFill>
                          <a:srgbClr val="C0392B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6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Q2 2026 10-Q, reportable segments. $ in millions.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45875E4F-AEE0-4FA0-9789-D5F78ABABF2E}" type="slidenum">
              <a:rPr lang="en-US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Capital spending ran six times adjusted EBITDA</a:t>
            </a:r>
          </a:p>
        </p:txBody>
      </p:sp>
      <p:sp>
        <p:nvSpPr>
          <p:cNvPr id="7" name="TextBox 7"/>
          <p:cNvSpPr>
            <a:spLocks/>
          </p:cNvSpPr>
          <p:nvPr/>
        </p:nvSpPr>
        <p:spPr>
          <a:xfrm>
            <a:off x="508000" y="1778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chemeClr val="accent2"/>
                </a:solidFill>
                <a:latin typeface="+mn-lt"/>
              </a:rPr>
              <a:t>Capital allocation</a:t>
            </a:r>
            <a:endParaRPr sz="1100" b="1" i="0" u="none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8" name="TextBox 8"/>
          <p:cNvSpPr>
            <a:spLocks/>
          </p:cNvSpPr>
          <p:nvPr/>
        </p:nvSpPr>
        <p:spPr>
          <a:xfrm>
            <a:off x="508000" y="1270000"/>
            <a:ext cx="254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Adjusted EBITDA by segment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TextBox 9"/>
          <p:cNvSpPr>
            <a:spLocks/>
          </p:cNvSpPr>
          <p:nvPr/>
        </p:nvSpPr>
        <p:spPr>
          <a:xfrm>
            <a:off x="508000" y="1574800"/>
            <a:ext cx="2540000" cy="9144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Connectivity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chemeClr val="accent6"/>
                </a:solidFill>
                <a:latin typeface="+mj-lt"/>
              </a:rPr>
              <a:t>$4.7B</a:t>
            </a:r>
            <a:endParaRPr sz="2800" b="1" i="0" u="none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0" name="TextBox 10"/>
          <p:cNvSpPr>
            <a:spLocks/>
          </p:cNvSpPr>
          <p:nvPr/>
        </p:nvSpPr>
        <p:spPr>
          <a:xfrm>
            <a:off x="508000" y="2895600"/>
            <a:ext cx="2540000" cy="9144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AI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chemeClr val="dk1"/>
                </a:solidFill>
                <a:latin typeface="+mj-lt"/>
              </a:rPr>
              <a:t>$0.5B</a:t>
            </a:r>
            <a:endParaRPr sz="2800" b="1" i="0" u="none">
              <a:solidFill>
                <a:schemeClr val="dk1"/>
              </a:solidFill>
              <a:latin typeface="+mj-lt"/>
            </a:endParaRPr>
          </a:p>
        </p:txBody>
      </p:sp>
      <p:sp>
        <p:nvSpPr>
          <p:cNvPr id="11" name="TextBox 11"/>
          <p:cNvSpPr>
            <a:spLocks/>
          </p:cNvSpPr>
          <p:nvPr/>
        </p:nvSpPr>
        <p:spPr>
          <a:xfrm>
            <a:off x="508000" y="4216400"/>
            <a:ext cx="2540000" cy="9144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Space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C0392B"/>
                </a:solidFill>
                <a:latin typeface="+mj-lt"/>
              </a:rPr>
              <a:t>($0.6B)</a:t>
            </a:r>
            <a:endParaRPr sz="2800" b="1" i="0" u="none">
              <a:solidFill>
                <a:srgbClr val="C0392B"/>
              </a:solidFill>
              <a:latin typeface="+mj-lt"/>
            </a:endParaRPr>
          </a:p>
        </p:txBody>
      </p:sp>
      <p:sp>
        <p:nvSpPr>
          <p:cNvPr id="4" name="Shape 4"/>
          <p:cNvSpPr>
            <a:spLocks/>
          </p:cNvSpPr>
          <p:nvPr/>
        </p:nvSpPr>
        <p:spPr>
          <a:xfrm>
            <a:off x="3200400" y="1574800"/>
            <a:ext cx="254000" cy="3556000"/>
          </a:xfrm>
          <a:prstGeom prst="rightBrace">
            <a:avLst/>
          </a:prstGeom>
          <a:noFill/>
          <a:ln w="19050">
            <a:solidFill>
              <a:schemeClr val="dk1">
                <a:lumMod val="50000"/>
                <a:lumOff val="50000"/>
              </a:schemeClr>
            </a:solidFill>
          </a:ln>
        </p:spPr>
      </p:sp>
      <p:sp>
        <p:nvSpPr>
          <p:cNvPr id="5" name="Shape 5"/>
          <p:cNvSpPr>
            <a:spLocks/>
          </p:cNvSpPr>
          <p:nvPr/>
        </p:nvSpPr>
        <p:spPr>
          <a:xfrm>
            <a:off x="3505200" y="3352800"/>
            <a:ext cx="812800" cy="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tailEnd type="triangle"/>
          </a:ln>
        </p:spPr>
      </p:sp>
      <p:sp>
        <p:nvSpPr>
          <p:cNvPr id="12" name="TextBox 12"/>
          <p:cNvSpPr>
            <a:spLocks/>
          </p:cNvSpPr>
          <p:nvPr/>
        </p:nvSpPr>
        <p:spPr>
          <a:xfrm>
            <a:off x="4368800" y="2590800"/>
            <a:ext cx="2540000" cy="152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Total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chemeClr val="dk1"/>
                </a:solidFill>
                <a:latin typeface="+mj-lt"/>
              </a:rPr>
              <a:t>$4.7B</a:t>
            </a:r>
            <a:endParaRPr sz="2800" b="1" i="0" u="none">
              <a:solidFill>
                <a:schemeClr val="dk1"/>
              </a:solidFill>
              <a:latin typeface="+mj-lt"/>
            </a:endParaRPr>
          </a:p>
        </p:txBody>
      </p:sp>
      <p:sp>
        <p:nvSpPr>
          <p:cNvPr id="6" name="Shape 6"/>
          <p:cNvSpPr>
            <a:spLocks/>
          </p:cNvSpPr>
          <p:nvPr/>
        </p:nvSpPr>
        <p:spPr>
          <a:xfrm>
            <a:off x="7061200" y="3098800"/>
            <a:ext cx="660400" cy="508000"/>
          </a:xfrm>
          <a:prstGeom prst="rightArrow">
            <a:avLst/>
          </a:prstGeom>
          <a:solidFill>
            <a:schemeClr val="accent3"/>
          </a:solidFill>
          <a:ln w="0">
            <a:noFill/>
          </a:ln>
        </p:spPr>
      </p:sp>
      <p:sp>
        <p:nvSpPr>
          <p:cNvPr id="13" name="TextBox 13"/>
          <p:cNvSpPr>
            <a:spLocks/>
          </p:cNvSpPr>
          <p:nvPr/>
        </p:nvSpPr>
        <p:spPr>
          <a:xfrm>
            <a:off x="7874000" y="1574800"/>
            <a:ext cx="3810000" cy="3556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Capital expenditures</a:t>
            </a:r>
            <a:endParaRPr sz="1600" b="0" i="0" u="none">
              <a:solidFill>
                <a:schemeClr val="lt1"/>
              </a:solidFill>
              <a:latin typeface="+mn-lt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chemeClr val="lt1"/>
                </a:solidFill>
                <a:latin typeface="+mj-lt"/>
              </a:rPr>
              <a:t>$28.5B</a:t>
            </a:r>
            <a:endParaRPr sz="4000" b="1" i="0" u="none">
              <a:solidFill>
                <a:schemeClr val="lt1"/>
              </a:solidFill>
              <a:latin typeface="+mj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AI: $23.6B</a:t>
            </a:r>
            <a:endParaRPr sz="1600" b="0" i="0" u="none">
              <a:solidFill>
                <a:schemeClr val="l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Connectivity: $2.7B</a:t>
            </a:r>
            <a:endParaRPr sz="1600" b="0" i="0" u="none">
              <a:solidFill>
                <a:schemeClr val="l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Space: $2.2B</a:t>
            </a:r>
            <a:endParaRPr sz="1600" b="0" i="0" u="none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TextBox 14"/>
          <p:cNvSpPr>
            <a:spLocks/>
          </p:cNvSpPr>
          <p:nvPr/>
        </p:nvSpPr>
        <p:spPr>
          <a:xfrm>
            <a:off x="4368800" y="4826000"/>
            <a:ext cx="2794000" cy="838200"/>
          </a:xfrm>
          <a:prstGeom prst="wedgeRectCallout">
            <a:avLst/>
          </a:prstGeom>
          <a:solidFill>
            <a:schemeClr val="lt1"/>
          </a:solidFill>
          <a:ln w="19050">
            <a:solidFill>
              <a:schemeClr val="accent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2"/>
                </a:solidFill>
                <a:latin typeface="+mn-lt"/>
              </a:rPr>
              <a:t>AI capital spending rose sevenfold from $3.3B in the first half of 2025.</a:t>
            </a:r>
            <a:endParaRPr sz="1600" b="0" i="0" u="none">
              <a:solidFill>
                <a:schemeClr val="dk2"/>
              </a:solidFill>
              <a:latin typeface="+mn-lt"/>
            </a:endParaRPr>
          </a:p>
        </p:txBody>
      </p:sp>
      <p:sp>
        <p:nvSpPr>
          <p:cNvPr id="15" name="TextBox 15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Q2 2026 10-Q, reportable segments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45875E4F-AEE0-4FA0-9789-D5F78ABABF2E}" type="slidenum">
              <a:rPr lang="en-US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thm15="http://schemas.microsoft.com/office/thememl/2012/main" xmlns:a="http://schemas.openxmlformats.org/drawingml/2006/main" name="Acme">
  <a:themeElements>
    <a:clrScheme name="Office">
      <a:dk1>
        <a:srgbClr val="1B1B1B"/>
      </a:dk1>
      <a:lt1>
        <a:srgbClr val="FFFFFF"/>
      </a:lt1>
      <a:dk2>
        <a:srgbClr val="1F3A5F"/>
      </a:dk2>
      <a:lt2>
        <a:srgbClr val="E9EDF2"/>
      </a:lt2>
      <a:accent1>
        <a:srgbClr val="1F4E79"/>
      </a:accent1>
      <a:accent2>
        <a:srgbClr val="2E86AB"/>
      </a:accent2>
      <a:accent3>
        <a:srgbClr val="F2A541"/>
      </a:accent3>
      <a:accent4>
        <a:srgbClr val="6C757D"/>
      </a:accent4>
      <a:accent5>
        <a:srgbClr val="A23B72"/>
      </a:accent5>
      <a:accent6>
        <a:srgbClr val="3B8F5A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Q2 2026 Board Update</dc:title>
  <dcterms:created xsi:type="dcterms:W3CDTF">2026-10-27T15:59:41Z</dcterms:created>
  <dcterms:modified xsi:type="dcterms:W3CDTF">2026-10-27T15:59:41Z</dcterms:modified>
</cp:coreProperties>
</file>