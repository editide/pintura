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bin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charts/chart1.xml" ContentType="application/vnd.openxmlformats-officedocument.drawingml.chart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2" Type="http://schemas.openxmlformats.org/officeDocument/2006/relationships/officeDocument" Target="ppt/presentation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0f7a7f2847d44dbe"/>
    <p:sldId id="258" r:id="R0f3718405daa4e87"/>
    <p:sldId id="259" r:id="R6dbfe5e646ef4f68"/>
    <p:sldId id="260" r:id="Refc7a691f3cf4e71"/>
    <p:sldId id="261" r:id="Rdea3f1a7be2945d2"/>
    <p:sldId id="262" r:id="Re74cf4e1c3f44ea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EB517D1B-65D8-4535-ABFE-179DF76D74CD}">
          <p14:sldIdLst>
            <p14:sldId id="257"/>
          </p14:sldIdLst>
        </p14:section>
        <p14:section name="Financial performance" id="{D3456246-CC67-4510-90C0-7578374B9F7D}">
          <p14:sldIdLst>
            <p14:sldId id="258"/>
            <p14:sldId id="259"/>
            <p14:sldId id="260"/>
            <p14:sldId id="261"/>
          </p14:sldIdLst>
        </p14:section>
        <p14:section name="Capital allocation" id="{9A0091CA-0537-41D6-914D-96BE12F5005C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91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presProps" Target="presProps.xml" Id="rId3" /><Relationship Type="http://schemas.openxmlformats.org/officeDocument/2006/relationships/slideMaster" Target="slideMasters/slideMaster1.xml" Id="rId1" /><Relationship Type="http://schemas.openxmlformats.org/officeDocument/2006/relationships/tableStyles" Target="tableStyles.xml" Id="rId6" /><Relationship Type="http://schemas.openxmlformats.org/officeDocument/2006/relationships/theme" Target="theme/theme1.xml" Id="rId5" /><Relationship Type="http://schemas.openxmlformats.org/officeDocument/2006/relationships/viewProps" Target="viewProps.xml" Id="rId4" /><Relationship Type="http://schemas.openxmlformats.org/officeDocument/2006/relationships/slide" Target="/ppt/slides/slide2.xml" Id="R0f7a7f2847d44dbe" /><Relationship Type="http://schemas.openxmlformats.org/officeDocument/2006/relationships/slide" Target="/ppt/slides/slide3.xml" Id="R0f3718405daa4e87" /><Relationship Type="http://schemas.openxmlformats.org/officeDocument/2006/relationships/slide" Target="/ppt/slides/slide4.xml" Id="R6dbfe5e646ef4f68" /><Relationship Type="http://schemas.openxmlformats.org/officeDocument/2006/relationships/slide" Target="/ppt/slides/slide5.xml" Id="Refc7a691f3cf4e71" /><Relationship Type="http://schemas.openxmlformats.org/officeDocument/2006/relationships/slide" Target="/ppt/slides/slide6.xml" Id="Rdea3f1a7be2945d2" /><Relationship Type="http://schemas.openxmlformats.org/officeDocument/2006/relationships/slide" Target="/ppt/slides/slide7.xml" Id="Re74cf4e1c3f44ea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a46630d9ee24d2e" /><Relationship Type="http://schemas.openxmlformats.org/officeDocument/2006/relationships/image" Target="/ppt/media/image.png" Id="Ra405d37b2518448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f73dcfaf40a4cdf" /><Relationship Type="http://schemas.openxmlformats.org/officeDocument/2006/relationships/image" Target="/ppt/media/image2.png" Id="Rc48550e043c94db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7502b6416a64cb2" /><Relationship Type="http://schemas.openxmlformats.org/officeDocument/2006/relationships/image" Target="/ppt/media/image3.png" Id="R947d4a2df4b0453f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b0f35c3c2aa45a5" /></Relationships>
</file>

<file path=ppt/slideLayouts/slideLayout2.xml><?xml version="1.0" encoding="utf-8"?>
<p:sldLayout xmlns:r="http://schemas.openxmlformats.org/officeDocument/2006/relationships" xmlns:a="http://schemas.openxmlformats.org/drawingml/2006/main" xmlns:p="http://schemas.openxmlformats.org/presentationml/2006/main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Box 4"/>
          <p:cNvSpPr>
            <a:spLocks/>
          </p:cNvSpPr>
          <p:nvPr>
            <p:ph type="title" hasCustomPrompt="1"/>
          </p:nvPr>
        </p:nvSpPr>
        <p:spPr>
          <a:xfrm>
            <a:off x="508000" y="457200"/>
            <a:ext cx="10160000" cy="5588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>
            <a:lvl1pPr>
              <a:buNone/>
              <a:defRPr/>
            </a:lvl1pPr>
          </a:lstStyle>
          <a:p>
            <a:r>
              <a:rPr/>
              <a:t>Title</a:t>
            </a:r>
          </a:p>
        </p:txBody>
      </p:sp>
      <p:sp>
        <p:nvSpPr>
          <p:cNvPr id="5" name="TextBox 5"/>
          <p:cNvSpPr>
            <a:spLocks/>
          </p:cNvSpPr>
          <p:nvPr>
            <p:ph idx="1" hasCustomPrompt="1"/>
          </p:nvPr>
        </p:nvSpPr>
        <p:spPr>
          <a:xfrm>
            <a:off x="508000" y="1270000"/>
            <a:ext cx="5461000" cy="4064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>
            <a:lvl1pPr>
              <a:buNone/>
              <a:defRPr sz="2000">
                <a:solidFill>
                  <a:schemeClr val="dk2"/>
                </a:solidFill>
                <a:latin typeface="+mj-lt"/>
              </a:defRPr>
            </a:lvl1pPr>
          </a:lstStyle>
          <a:p>
            <a:r>
              <a:rPr/>
              <a:t>left_heading</a:t>
            </a:r>
          </a:p>
        </p:txBody>
      </p:sp>
      <p:sp>
        <p:nvSpPr>
          <p:cNvPr id="6" name="TextBox 6"/>
          <p:cNvSpPr>
            <a:spLocks/>
          </p:cNvSpPr>
          <p:nvPr>
            <p:ph idx="2" hasCustomPrompt="1"/>
          </p:nvPr>
        </p:nvSpPr>
        <p:spPr>
          <a:xfrm>
            <a:off x="6223000" y="1270000"/>
            <a:ext cx="5461000" cy="4064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>
            <a:lvl1pPr>
              <a:buNone/>
              <a:defRPr sz="2000">
                <a:solidFill>
                  <a:schemeClr val="dk2"/>
                </a:solidFill>
                <a:latin typeface="+mj-lt"/>
              </a:defRPr>
            </a:lvl1pPr>
          </a:lstStyle>
          <a:p>
            <a:r>
              <a:rPr/>
              <a:t>right_heading</a:t>
            </a:r>
          </a:p>
        </p:txBody>
      </p:sp>
      <p:sp>
        <p:nvSpPr>
          <p:cNvPr id="7" name="TextBox 7"/>
          <p:cNvSpPr>
            <a:spLocks/>
          </p:cNvSpPr>
          <p:nvPr>
            <p:ph type="sldNum" idx="12"/>
          </p:nvPr>
        </p:nvSpPr>
        <p:spPr>
          <a:xfrm>
            <a:off x="10922000" y="6451600"/>
            <a:ext cx="762000" cy="2794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i="0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>
            <a:fld id="{08D90AE8-3CA7-4AAF-95B6-8DA5CD758FE5}" type="slidenum">
              <a:rPr lang="en-US"/>
              <a:t>‹#›</a:t>
            </a:fld>
            <a:endParaRPr lang="en-US"/>
          </a:p>
        </p:txBody>
      </p:sp>
      <p:pic>
        <p:nvPicPr>
          <p:cNvPr id="3" name="Picture 3"/>
          <p:cNvPicPr>
            <a:picLocks noChangeAspect="1"/>
          </p:cNvPicPr>
          <p:nvPr/>
        </p:nvPicPr>
        <p:blipFill>
          <a:blip xmlns:r="http://schemas.openxmlformats.org/officeDocument/2006/relationships" r:embed="Ra405d37b2518448e"/>
          <a:stretch>
            <a:fillRect/>
          </a:stretch>
        </p:blipFill>
        <p:spPr>
          <a:xfrm>
            <a:off x="10871200" y="558800"/>
            <a:ext cx="812800" cy="304800"/>
          </a:xfrm>
          <a:prstGeom prst="rect"/>
        </p:spPr>
      </p:pic>
      <p:sp>
        <p:nvSpPr>
          <p:cNvPr id="2" name="Shape 2"/>
          <p:cNvSpPr>
            <a:spLocks/>
          </p:cNvSpPr>
          <p:nvPr/>
        </p:nvSpPr>
        <p:spPr>
          <a:xfrm>
            <a:off x="508000" y="1117600"/>
            <a:ext cx="111760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</p:sp>
      <p:sp>
        <p:nvSpPr>
          <p:cNvPr id="8" name="TextBox 8"/>
          <p:cNvSpPr>
            <a:spLocks/>
          </p:cNvSpPr>
          <p:nvPr/>
        </p:nvSpPr>
        <p:spPr>
          <a:xfrm>
            <a:off x="508000" y="6451600"/>
            <a:ext cx="7620000" cy="2794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rPr>
              <a:t>Confidential. Prepared for board discussion.</a:t>
            </a:r>
            <a:endParaRPr sz="1100" b="0" i="0" u="none">
              <a:solidFill>
                <a:schemeClr val="dk1">
                  <a:lumMod val="50000"/>
                  <a:lumOff val="50000"/>
                </a:schemeClr>
              </a:solidFill>
              <a:latin typeface="+mn-lt"/>
            </a:endParaRPr>
          </a:p>
        </p:txBody>
      </p:sp>
    </p:spTree>
  </p:cSld>
  <p:clrMapOvr>
    <a:masterClrMapping xmlns:a="http://schemas.openxmlformats.org/drawingml/2006/main"/>
  </p:clrMapOvr>
  <p:hf hdr="0"/>
</p:sldLayout>
</file>

<file path=ppt/slideLayouts/slideLayout3.xml><?xml version="1.0" encoding="utf-8"?>
<p:sldLayout xmlns:r="http://schemas.openxmlformats.org/officeDocument/2006/relationships" xmlns:a="http://schemas.openxmlformats.org/drawingml/2006/main" xmlns:p="http://schemas.openxmlformats.org/presentationml/2006/main" preserve="1">
  <p:cSld name="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Box 4"/>
          <p:cNvSpPr>
            <a:spLocks/>
          </p:cNvSpPr>
          <p:nvPr>
            <p:ph type="title" hasCustomPrompt="1"/>
          </p:nvPr>
        </p:nvSpPr>
        <p:spPr>
          <a:xfrm>
            <a:off x="508000" y="457200"/>
            <a:ext cx="10160000" cy="5588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>
            <a:lvl1pPr>
              <a:buNone/>
              <a:defRPr/>
            </a:lvl1pPr>
          </a:lstStyle>
          <a:p>
            <a:r>
              <a:rPr/>
              <a:t>Title</a:t>
            </a:r>
          </a:p>
        </p:txBody>
      </p:sp>
      <p:sp>
        <p:nvSpPr>
          <p:cNvPr id="5" name="TextBox 5"/>
          <p:cNvSpPr>
            <a:spLocks/>
          </p:cNvSpPr>
          <p:nvPr>
            <p:ph type="sldNum" idx="12"/>
          </p:nvPr>
        </p:nvSpPr>
        <p:spPr>
          <a:xfrm>
            <a:off x="10922000" y="6451600"/>
            <a:ext cx="762000" cy="2794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i="0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>
            <a:fld id="{49E6AE90-00C2-49BF-8317-71768E6119A1}" type="slidenum">
              <a:rPr lang="en-US"/>
              <a:t>‹#›</a:t>
            </a:fld>
            <a:endParaRPr lang="en-US"/>
          </a:p>
        </p:txBody>
      </p:sp>
      <p:pic>
        <p:nvPicPr>
          <p:cNvPr id="3" name="Picture 3"/>
          <p:cNvPicPr>
            <a:picLocks noChangeAspect="1"/>
          </p:cNvPicPr>
          <p:nvPr/>
        </p:nvPicPr>
        <p:blipFill>
          <a:blip xmlns:r="http://schemas.openxmlformats.org/officeDocument/2006/relationships" r:embed="Rc48550e043c94db7"/>
          <a:stretch>
            <a:fillRect/>
          </a:stretch>
        </p:blipFill>
        <p:spPr>
          <a:xfrm>
            <a:off x="10871200" y="558800"/>
            <a:ext cx="812800" cy="304800"/>
          </a:xfrm>
          <a:prstGeom prst="rect"/>
        </p:spPr>
      </p:pic>
      <p:sp>
        <p:nvSpPr>
          <p:cNvPr id="2" name="Shape 2"/>
          <p:cNvSpPr>
            <a:spLocks/>
          </p:cNvSpPr>
          <p:nvPr/>
        </p:nvSpPr>
        <p:spPr>
          <a:xfrm>
            <a:off x="508000" y="1117600"/>
            <a:ext cx="111760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</p:sp>
      <p:sp>
        <p:nvSpPr>
          <p:cNvPr id="6" name="TextBox 6"/>
          <p:cNvSpPr>
            <a:spLocks/>
          </p:cNvSpPr>
          <p:nvPr/>
        </p:nvSpPr>
        <p:spPr>
          <a:xfrm>
            <a:off x="508000" y="6451600"/>
            <a:ext cx="7620000" cy="2794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rPr>
              <a:t>Confidential. Prepared for board discussion.</a:t>
            </a:r>
            <a:endParaRPr sz="1100" b="0" i="0" u="none">
              <a:solidFill>
                <a:schemeClr val="dk1">
                  <a:lumMod val="50000"/>
                  <a:lumOff val="50000"/>
                </a:schemeClr>
              </a:solidFill>
              <a:latin typeface="+mn-lt"/>
            </a:endParaRPr>
          </a:p>
        </p:txBody>
      </p:sp>
    </p:spTree>
  </p:cSld>
  <p:clrMapOvr>
    <a:masterClrMapping xmlns:a="http://schemas.openxmlformats.org/drawingml/2006/main"/>
  </p:clrMapOvr>
  <p:hf hdr="0"/>
</p:sldLayout>
</file>

<file path=ppt/slideLayouts/slideLayout4.xml><?xml version="1.0" encoding="utf-8"?>
<p:sldLayout xmlns:r="http://schemas.openxmlformats.org/officeDocument/2006/relationships" xmlns:a="http://schemas.openxmlformats.org/drawingml/2006/main" xmlns:p="http://schemas.openxmlformats.org/presentationml/2006/main" preserve="1">
  <p:cSld name="Cover">
    <p:bg>
      <p:bgPr>
        <a:solidFill>
          <a:schemeClr val="dk2"/>
        </a:solidFill>
        <a:effectLst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Box 4"/>
          <p:cNvSpPr>
            <a:spLocks/>
          </p:cNvSpPr>
          <p:nvPr>
            <p:ph type="title" hasCustomPrompt="1"/>
          </p:nvPr>
        </p:nvSpPr>
        <p:spPr>
          <a:xfrm>
            <a:off x="762000" y="2413000"/>
            <a:ext cx="10668000" cy="11430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>
            <a:lvl1pPr>
              <a:buNone/>
              <a:defRPr sz="4000" b="1">
                <a:solidFill>
                  <a:schemeClr val="lt1"/>
                </a:solidFill>
              </a:defRPr>
            </a:lvl1pPr>
          </a:lstStyle>
          <a:p>
            <a:r>
              <a:rPr/>
              <a:t>Title</a:t>
            </a:r>
          </a:p>
        </p:txBody>
      </p:sp>
      <p:sp>
        <p:nvSpPr>
          <p:cNvPr id="5" name="TextBox 5"/>
          <p:cNvSpPr>
            <a:spLocks/>
          </p:cNvSpPr>
          <p:nvPr>
            <p:ph idx="1" hasCustomPrompt="1"/>
          </p:nvPr>
        </p:nvSpPr>
        <p:spPr>
          <a:xfrm>
            <a:off x="762000" y="2032000"/>
            <a:ext cx="10668000" cy="2540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>
            <a:lvl1pPr>
              <a:buNone/>
              <a:defRPr sz="1100" b="1">
                <a:solidFill>
                  <a:schemeClr val="accent3"/>
                </a:solidFill>
              </a:defRPr>
            </a:lvl1pPr>
          </a:lstStyle>
          <a:p>
            <a:r>
              <a:rPr/>
              <a:t>kicker</a:t>
            </a:r>
          </a:p>
        </p:txBody>
      </p:sp>
      <p:sp>
        <p:nvSpPr>
          <p:cNvPr id="6" name="TextBox 6"/>
          <p:cNvSpPr>
            <a:spLocks/>
          </p:cNvSpPr>
          <p:nvPr>
            <p:ph idx="2" hasCustomPrompt="1"/>
          </p:nvPr>
        </p:nvSpPr>
        <p:spPr>
          <a:xfrm>
            <a:off x="762000" y="3683000"/>
            <a:ext cx="10668000" cy="5080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>
            <a:lvl1pPr>
              <a:buNone/>
              <a:defRPr sz="1800">
                <a:solidFill>
                  <a:schemeClr val="lt2"/>
                </a:solidFill>
              </a:defRPr>
            </a:lvl1pPr>
          </a:lstStyle>
          <a:p>
            <a:r>
              <a:rPr/>
              <a:t>subtitle</a:t>
            </a:r>
          </a:p>
        </p:txBody>
      </p:sp>
      <p:pic>
        <p:nvPicPr>
          <p:cNvPr id="3" name="Picture 3"/>
          <p:cNvPicPr>
            <a:picLocks noChangeAspect="1"/>
          </p:cNvPicPr>
          <p:nvPr/>
        </p:nvPicPr>
        <p:blipFill>
          <a:blip xmlns:r="http://schemas.openxmlformats.org/officeDocument/2006/relationships" r:embed="R947d4a2df4b0453f"/>
          <a:stretch>
            <a:fillRect/>
          </a:stretch>
        </p:blipFill>
        <p:spPr>
          <a:xfrm>
            <a:off x="846667" y="762000"/>
            <a:ext cx="1354667" cy="508000"/>
          </a:xfrm>
          <a:prstGeom prst="rect"/>
        </p:spPr>
      </p:pic>
      <p:sp>
        <p:nvSpPr>
          <p:cNvPr id="2" name="Shape 2"/>
          <p:cNvSpPr>
            <a:spLocks/>
          </p:cNvSpPr>
          <p:nvPr/>
        </p:nvSpPr>
        <p:spPr>
          <a:xfrm>
            <a:off x="762000" y="1778000"/>
            <a:ext cx="1016000" cy="50800"/>
          </a:xfrm>
          <a:prstGeom prst="rect">
            <a:avLst/>
          </a:prstGeom>
          <a:solidFill>
            <a:schemeClr val="accent3"/>
          </a:solidFill>
          <a:ln w="0">
            <a:noFill/>
          </a:ln>
        </p:spPr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a="http://schemas.openxmlformats.org/drawingml/2006/main" xmlns:p="http://schemas.openxmlformats.org/presentationml/2006/main" preserve="1">
  <p:cSld name="Secti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extBox 3"/>
          <p:cNvSpPr>
            <a:spLocks/>
          </p:cNvSpPr>
          <p:nvPr>
            <p:ph type="title" hasCustomPrompt="1"/>
          </p:nvPr>
        </p:nvSpPr>
        <p:spPr>
          <a:xfrm>
            <a:off x="762000" y="2540000"/>
            <a:ext cx="8128000" cy="8890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>
            <a:lvl1pPr>
              <a:buNone/>
              <a:defRPr sz="4000" b="1">
                <a:solidFill>
                  <a:schemeClr val="lt1"/>
                </a:solidFill>
              </a:defRPr>
            </a:lvl1pPr>
          </a:lstStyle>
          <a:p>
            <a:r>
              <a:rPr/>
              <a:t>Title</a:t>
            </a:r>
          </a:p>
        </p:txBody>
      </p:sp>
      <p:sp>
        <p:nvSpPr>
          <p:cNvPr id="4" name="TextBox 4"/>
          <p:cNvSpPr>
            <a:spLocks/>
          </p:cNvSpPr>
          <p:nvPr>
            <p:ph idx="1" hasCustomPrompt="1"/>
          </p:nvPr>
        </p:nvSpPr>
        <p:spPr>
          <a:xfrm>
            <a:off x="762000" y="3556000"/>
            <a:ext cx="8128000" cy="10160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>
            <a:lvl1pPr>
              <a:buNone/>
              <a:defRPr sz="1800">
                <a:solidFill>
                  <a:schemeClr val="lt1"/>
                </a:solidFill>
              </a:defRPr>
            </a:lvl1pPr>
          </a:lstStyle>
          <a:p>
            <a:r>
              <a:rPr/>
              <a:t>summary</a:t>
            </a:r>
          </a:p>
        </p:txBody>
      </p:sp>
      <p:sp>
        <p:nvSpPr>
          <p:cNvPr id="5" name="TextBox 5"/>
          <p:cNvSpPr>
            <a:spLocks/>
          </p:cNvSpPr>
          <p:nvPr>
            <p:ph type="sldNum" idx="12"/>
          </p:nvPr>
        </p:nvSpPr>
        <p:spPr>
          <a:xfrm>
            <a:off x="10922000" y="6451600"/>
            <a:ext cx="762000" cy="2794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i="0" u="none">
                <a:solidFill>
                  <a:schemeClr val="lt2"/>
                </a:solidFill>
                <a:latin typeface="+mn-lt"/>
              </a:defRPr>
            </a:lvl1pPr>
          </a:lstStyle>
          <a:p>
            <a:fld id="{C700967C-24D0-413C-8885-7E613E7198F0}" type="slidenum">
              <a:rPr lang="en-US"/>
              <a:t>‹#›</a:t>
            </a:fld>
            <a:endParaRPr lang="en-US"/>
          </a:p>
        </p:txBody>
      </p:sp>
      <p:sp>
        <p:nvSpPr>
          <p:cNvPr id="2" name="Shape 2"/>
          <p:cNvSpPr>
            <a:spLocks/>
          </p:cNvSpPr>
          <p:nvPr/>
        </p:nvSpPr>
        <p:spPr>
          <a:xfrm>
            <a:off x="9398000" y="1905000"/>
            <a:ext cx="2032000" cy="3048000"/>
          </a:xfrm>
          <a:prstGeom prst="chevron">
            <a:avLst/>
          </a:prstGeom>
          <a:solidFill>
            <a:schemeClr val="lt1">
              <a:alpha val="15000"/>
            </a:schemeClr>
          </a:solidFill>
          <a:ln w="0">
            <a:noFill/>
          </a:ln>
        </p:spPr>
      </p:sp>
    </p:spTree>
  </p:cSld>
  <p:clrMapOvr>
    <a:masterClrMapping xmlns:a="http://schemas.openxmlformats.org/drawingml/2006/main"/>
  </p:clrMapOvr>
  <p:hf hdr="0"/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../theme/theme1.xml" Id="rId12" /><Relationship Type="http://schemas.openxmlformats.org/officeDocument/2006/relationships/slideLayout" Target="/ppt/slideLayouts/slideLayout2.xml" Id="R2ed8ecf1bcd1445e" /><Relationship Type="http://schemas.openxmlformats.org/officeDocument/2006/relationships/slideLayout" Target="/ppt/slideLayouts/slideLayout3.xml" Id="Reea3d4deb7ed43a3" /><Relationship Type="http://schemas.openxmlformats.org/officeDocument/2006/relationships/slideLayout" Target="/ppt/slideLayouts/slideLayout4.xml" Id="R6edd952ecd6848d9" /><Relationship Type="http://schemas.openxmlformats.org/officeDocument/2006/relationships/slideLayout" Target="/ppt/slideLayouts/slideLayout5.xml" Id="Rbae8a2e7c7ea4db8" /></Relationships>
</file>

<file path=ppt/slideMasters/slideMaster1.xml><?xml version="1.0" encoding="utf-8"?>
<p:sldMaster xmlns:a16="http://schemas.microsoft.com/office/drawing/2014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 name="Acme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92DC98E-7245-506C-4DA3-0445A9E66C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42EE9F-CC31-DF39-A062-B2B15B63BA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D7E38B-7287-F4F9-DAB0-D29023A03E1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ECAA507-60AD-4984-B2C6-F019B10A8FAF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BE9552-342F-9B46-5A56-D78EBE59D54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53C071-B40B-CD92-E682-4B644211F2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E72529-519C-4CBA-8A8F-900AA26834F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8338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2ed8ecf1bcd1445e"/>
    <p:sldLayoutId id="2147483651" r:id="Reea3d4deb7ed43a3"/>
    <p:sldLayoutId id="2147483652" r:id="R6edd952ecd6848d9"/>
    <p:sldLayoutId id="2147483653" r:id="Rbae8a2e7c7ea4db8"/>
  </p:sldLayoutIdLst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None/>
        <a:defRPr sz="2800" b="0" i="0" u="none" kern="1200">
          <a:solidFill>
            <a:schemeClr val="dk2"/>
          </a:solidFill>
          <a:latin typeface="+mj-lt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None/>
        <a:defRPr sz="1600" b="0" i="0" u="none" kern="1200">
          <a:solidFill>
            <a:schemeClr val="dk1"/>
          </a:solidFill>
          <a:latin typeface="+mn-lt"/>
        </a:defRPr>
      </a:lvl1pPr>
      <a:lvl2pPr marL="228600" indent="-228600" algn="l" defTabSz="914400" rtl="0" eaLnBrk="1" latinLnBrk="0" hangingPunct="1">
        <a:lnSpc>
          <a:spcPct val="100000"/>
        </a:lnSpc>
        <a:spcBef>
          <a:spcPts val="600"/>
        </a:spcBef>
        <a:spcAft>
          <a:spcPts val="0"/>
        </a:spcAft>
        <a:buFont typeface="Arial"/>
        <a:buChar char="•"/>
        <a:defRPr sz="1600" b="0" i="0" u="none" kern="1200">
          <a:solidFill>
            <a:schemeClr val="dk1"/>
          </a:solidFill>
          <a:latin typeface="+mn-lt"/>
        </a:defRPr>
      </a:lvl2pPr>
      <a:lvl3pPr marL="457200" indent="-228600" algn="l" defTabSz="914400" rtl="0" eaLnBrk="1" latinLnBrk="0" hangingPunct="1">
        <a:lnSpc>
          <a:spcPct val="100000"/>
        </a:lnSpc>
        <a:spcBef>
          <a:spcPts val="300"/>
        </a:spcBef>
        <a:spcAft>
          <a:spcPts val="0"/>
        </a:spcAft>
        <a:buFont typeface="Arial" panose="020B0604020202020204" pitchFamily="34" charset="0"/>
        <a:buChar char="–"/>
        <a:defRPr sz="1400" b="0" i="0" u="none" kern="1200">
          <a:solidFill>
            <a:schemeClr val="dk1"/>
          </a:solidFill>
          <a:latin typeface="+mn-lt"/>
        </a:defRPr>
      </a:lvl3pPr>
      <a:lvl4pPr marL="6858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Font typeface="Arial" panose="020B0604020202020204" pitchFamily="34" charset="0"/>
        <a:buChar char="·"/>
        <a:defRPr sz="1200" b="0" i="0" u="none" kern="1200">
          <a:solidFill>
            <a:schemeClr val="dk1"/>
          </a:solidFill>
          <a:latin typeface="+mn-lt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None/>
        <a:defRPr sz="1600" b="0" i="0" u="none" kern="1200">
          <a:solidFill>
            <a:schemeClr val="dk1"/>
          </a:solidFill>
          <a:latin typeface="+mn-lt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759db30418604ca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048edfa7ea2b4fb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be8315aec124e4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da8941139764e9b" /><Relationship Type="http://schemas.openxmlformats.org/officeDocument/2006/relationships/chart" Target="/ppt/slides/charts/chart1.xml" Id="R6bd119f09118459d" /><Relationship Type="http://schemas.openxmlformats.org/officeDocument/2006/relationships/hyperlink" Target="https://example.com/acme/s-1a" TargetMode="External" Id="R80668817089444b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08aaf64077f466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a85b73178e54622" /></Relationships>
</file>

<file path=ppt/slides/charts/_rels/chart1.xml.rels>&#65279;<?xml version="1.0" encoding="utf-8"?><Relationships xmlns="http://schemas.openxmlformats.org/package/2006/relationships"><Relationship Type="http://schemas.openxmlformats.org/officeDocument/2006/relationships/package" Target="/ppt/slides/charts/embeddings/package.bin" Id="Rd3c4a8e397244a3b" /></Relationships>
</file>

<file path=ppt/slides/charts/chart1.xml><?xml version="1.0" encoding="utf-8"?>
<c:chartSpace xmlns:c="http://schemas.openxmlformats.org/drawingml/2006/chart"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Space</c:v>
                </c:pt>
              </c:strCache>
            </c:strRef>
          </c:tx>
          <c:spPr>
            <a:solidFill xmlns:a="http://schemas.openxmlformats.org/drawingml/2006/main">
              <a:schemeClr val="accent4">
                <a:lumMod val="60000"/>
                <a:lumOff val="40000"/>
              </a:schemeClr>
            </a:solidFill>
          </c:spPr>
          <c:invertIfNegative val="0"/>
          <c:dLbls>
            <c:numFmt formatCode="&quot;$&quot;#,##0.0,&quot;B&quot;;(&quot;$&quot;#,##0.0,&quot;B&quot;)" sourceLinked="0"/>
            <c:spPr>
              <a:noFill xmlns:a="http://schemas.openxmlformats.org/drawingml/2006/main"/>
              <a:ln xmlns:a="http://schemas.openxmlformats.org/drawingml/2006/main">
                <a:noFill/>
              </a:ln>
            </c:spPr>
            <c:txPr>
              <a:bodyPr xmlns:a="http://schemas.openxmlformats.org/drawingml/2006/main" rot="0" spcFirstLastPara="1" vertOverflow="ellipsis" vert="horz" wrap="square" lIns="38100" tIns="19050" rIns="38100" bIns="19050" anchor="ctr" anchorCtr="1">
                <a:spAutoFit/>
              </a:bodyPr>
              <a:lstStyle xmlns:a="http://schemas.openxmlformats.org/drawingml/2006/main"/>
              <a:p xmlns:a="http://schemas.openxmlformats.org/drawingml/2006/main">
                <a:pPr>
                  <a:defRPr sz="1000" b="0" i="0" u="none" strike="noStrike" kern="1200" baseline="0">
                    <a:solidFill>
                      <a:schemeClr val="lt1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3557</c:v>
                </c:pt>
                <c:pt idx="1">
                  <c:v>3796</c:v>
                </c:pt>
                <c:pt idx="2">
                  <c:v>4086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Connectivity</c:v>
                </c:pt>
              </c:strCache>
            </c:strRef>
          </c:tx>
          <c:spPr>
            <a:solidFill xmlns:a="http://schemas.openxmlformats.org/drawingml/2006/main">
              <a:schemeClr val="accent1"/>
            </a:solidFill>
          </c:spPr>
          <c:invertIfNegative val="0"/>
          <c:dLbls>
            <c:numFmt formatCode="&quot;$&quot;#,##0.0,&quot;B&quot;;(&quot;$&quot;#,##0.0,&quot;B&quot;)" sourceLinked="0"/>
            <c:spPr>
              <a:noFill xmlns:a="http://schemas.openxmlformats.org/drawingml/2006/main"/>
              <a:ln xmlns:a="http://schemas.openxmlformats.org/drawingml/2006/main">
                <a:noFill/>
              </a:ln>
            </c:spPr>
            <c:txPr>
              <a:bodyPr xmlns:a="http://schemas.openxmlformats.org/drawingml/2006/main" rot="0" spcFirstLastPara="1" vertOverflow="ellipsis" vert="horz" wrap="square" lIns="38100" tIns="19050" rIns="38100" bIns="19050" anchor="ctr" anchorCtr="1">
                <a:spAutoFit/>
              </a:bodyPr>
              <a:lstStyle xmlns:a="http://schemas.openxmlformats.org/drawingml/2006/main"/>
              <a:p xmlns:a="http://schemas.openxmlformats.org/drawingml/2006/main">
                <a:pPr>
                  <a:defRPr sz="1000" b="0" i="0" u="none" strike="noStrike" kern="1200" baseline="0">
                    <a:solidFill>
                      <a:schemeClr val="lt1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3869</c:v>
                </c:pt>
                <c:pt idx="1">
                  <c:v>7599</c:v>
                </c:pt>
                <c:pt idx="2">
                  <c:v>11387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AI</c:v>
                </c:pt>
              </c:strCache>
            </c:strRef>
          </c:tx>
          <c:spPr>
            <a:solidFill xmlns:a="http://schemas.openxmlformats.org/drawingml/2006/main">
              <a:schemeClr val="accent3"/>
            </a:solidFill>
          </c:spPr>
          <c:invertIfNegative val="0"/>
          <c:dLbls>
            <c:numFmt formatCode="&quot;$&quot;#,##0.0,&quot;B&quot;;(&quot;$&quot;#,##0.0,&quot;B&quot;)" sourceLinked="0"/>
            <c:spPr>
              <a:noFill xmlns:a="http://schemas.openxmlformats.org/drawingml/2006/main"/>
              <a:ln xmlns:a="http://schemas.openxmlformats.org/drawingml/2006/main">
                <a:noFill/>
              </a:ln>
            </c:spPr>
            <c:txPr>
              <a:bodyPr xmlns:a="http://schemas.openxmlformats.org/drawingml/2006/main" rot="0" spcFirstLastPara="1" vertOverflow="ellipsis" vert="horz" wrap="square" lIns="38100" tIns="19050" rIns="38100" bIns="19050" anchor="ctr" anchorCtr="1">
                <a:spAutoFit/>
              </a:bodyPr>
              <a:lstStyle xmlns:a="http://schemas.openxmlformats.org/drawingml/2006/main"/>
              <a:p xmlns:a="http://schemas.openxmlformats.org/drawingml/2006/main">
                <a:pPr>
                  <a:defRPr sz="1000" b="0" i="0" u="none" strike="noStrike" kern="1200" baseline="0">
                    <a:solidFill>
                      <a:schemeClr val="lt1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2961</c:v>
                </c:pt>
                <c:pt idx="1">
                  <c:v>2620</c:v>
                </c:pt>
                <c:pt idx="2">
                  <c:v>3201</c:v>
                </c:pt>
              </c:numCache>
            </c:numRef>
          </c:val>
        </c:ser>
        <c:gapWidth val="80"/>
        <c:overlap val="100"/>
        <c:axId val="111111111"/>
        <c:axId val="222222222"/>
      </c:barChart>
      <c:catAx>
        <c:axId val="111111111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noFill xmlns:a="http://schemas.openxmlformats.org/drawingml/2006/main"/>
          <a:ln xmlns:a="http://schemas.openxmlformats.org/drawingml/2006/main">
            <a:solidFill>
              <a:schemeClr val="tx1">
                <a:lumMod val="15000"/>
                <a:lumOff val="85000"/>
              </a:schemeClr>
            </a:solidFill>
          </a:ln>
        </c:spPr>
        <c:txPr>
          <a:bodyPr xmlns:a="http://schemas.openxmlformats.org/drawingml/2006/main"/>
          <a:p xmlns:a="http://schemas.openxmlformats.org/drawingml/2006/main">
            <a:pPr>
              <a:defRPr sz="1000" b="0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defRPr>
            </a:pPr>
          </a:p>
        </c:txPr>
        <c:crossAx val="222222222"/>
        <c:crosses val="autoZero"/>
        <c:auto val="1"/>
        <c:lblAlgn val="ctr"/>
        <c:lblOffset val="100"/>
        <c:noMultiLvlLbl val="0"/>
      </c:catAx>
      <c:valAx>
        <c:axId val="222222222"/>
        <c:scaling>
          <c:orientation val="minMax"/>
          <c:max val="20000"/>
          <c:min val="0"/>
        </c:scaling>
        <c:delete val="1"/>
        <c:axPos val="l"/>
        <c:majorTickMark val="none"/>
        <c:minorTickMark val="none"/>
        <c:tickLblPos val="nextTo"/>
        <c:spPr>
          <a:noFill xmlns:a="http://schemas.openxmlformats.org/drawingml/2006/main"/>
          <a:ln xmlns:a="http://schemas.openxmlformats.org/drawingml/2006/main">
            <a:noFill/>
          </a:ln>
        </c:spPr>
        <c:txPr>
          <a:bodyPr xmlns:a="http://schemas.openxmlformats.org/drawingml/2006/main"/>
          <a:p xmlns:a="http://schemas.openxmlformats.org/drawingml/2006/main">
            <a:pPr>
              <a:defRPr sz="1000" b="0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defRPr>
            </a:pPr>
          </a:p>
        </c:txPr>
        <c:crossAx val="111111111"/>
        <c:crosses val="autoZero"/>
        <c:crossBetween val="between"/>
        <c:majorUnit val="2000"/>
      </c:valAx>
    </c:plotArea>
    <c:legend>
      <c:legendPos val="b"/>
      <c:overlay val="0"/>
      <c:txPr>
        <a:bodyPr xmlns:a="http://schemas.openxmlformats.org/drawingml/2006/main"/>
        <a:p xmlns:a="http://schemas.openxmlformats.org/drawingml/2006/main">
          <a:pPr>
            <a:defRPr sz="1000" b="0">
              <a:solidFill>
                <a:schemeClr val="dk1">
                  <a:lumMod val="50000"/>
                  <a:lumOff val="50000"/>
                </a:schemeClr>
              </a:solidFill>
              <a:latin typeface="+mn-lt"/>
            </a:defRPr>
          </a:pPr>
        </a:p>
      </c:txPr>
    </c:legend>
    <c:plotVisOnly val="1"/>
    <c:dispBlanksAs val="gap"/>
  </c:chart>
  <c:externalData xmlns:r="http://schemas.openxmlformats.org/officeDocument/2006/relationships" r:id="Rd3c4a8e397244a3b">
    <c:autoUpdate val="0"/>
  </c:externalData>
</c:chartSpace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>
              <a:buNone/>
              <a:defRPr sz="4000" b="1">
                <a:solidFill>
                  <a:schemeClr val="lt1"/>
                </a:solidFill>
              </a:defRPr>
            </a:lvl1pPr>
          </a:lstStyle>
          <a:p>
            <a:r>
              <a:rPr/>
              <a:t>Q2 2026 Board Update</a:t>
            </a:r>
          </a:p>
        </p:txBody>
      </p:sp>
      <p:sp>
        <p:nvSpPr>
          <p:cNvPr id="3" name="Content Placeholder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>
              <a:buNone/>
              <a:defRPr sz="1100" b="1">
                <a:solidFill>
                  <a:schemeClr val="accent3"/>
                </a:solidFill>
              </a:defRPr>
            </a:lvl1pPr>
          </a:lstStyle>
          <a:p>
            <a:r>
              <a:rPr/>
              <a:t>Acme Corporation</a:t>
            </a:r>
          </a:p>
        </p:txBody>
      </p:sp>
      <p:sp>
        <p:nvSpPr>
          <p:cNvPr id="4" name="Content Placeholder"/>
          <p:cNvSpPr>
            <a:spLocks xmlns:a="http://schemas.openxmlformats.org/drawingml/2006/main" noGrp="1"/>
          </p:cNvSpPr>
          <p:nvPr>
            <p:ph idx="2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>
              <a:buNone/>
              <a:defRPr sz="1800">
                <a:solidFill>
                  <a:schemeClr val="lt2"/>
                </a:solidFill>
              </a:defRPr>
            </a:lvl1pPr>
          </a:lstStyle>
          <a:p>
            <a:r>
              <a:rPr/>
              <a:t>August 2026</a:t>
            </a:r>
          </a:p>
        </p:txBody>
      </p:sp>
    </p:spTree>
  </p:cSld>
</p:sld>
</file>

<file path=ppt/slides/slide3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>
              <a:buNone/>
              <a:defRPr sz="4000" b="1">
                <a:solidFill>
                  <a:schemeClr val="lt1"/>
                </a:solidFill>
              </a:defRPr>
            </a:lvl1pPr>
          </a:lstStyle>
          <a:p>
            <a:r>
              <a:rPr/>
              <a:t>Financial performance</a:t>
            </a:r>
          </a:p>
        </p:txBody>
      </p:sp>
      <p:sp>
        <p:nvSpPr>
          <p:cNvPr id="3" name="Content Placeholder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>
              <a:buNone/>
              <a:defRPr sz="1800">
                <a:solidFill>
                  <a:schemeClr val="lt1"/>
                </a:solidFill>
              </a:defRPr>
            </a:lvl1pPr>
          </a:lstStyle>
          <a:p>
            <a:r>
              <a:rPr/>
              <a:t>Revenue of $12.5B in the first half, up 54%, with Connectivity carrying the operating income.</a:t>
            </a:r>
          </a:p>
        </p:txBody>
      </p:sp>
      <p:sp>
        <p:nvSpPr>
          <p:cNvPr id="4" name="Slide Number"/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i="0" u="none">
                <a:solidFill>
                  <a:schemeClr val="lt2"/>
                </a:solidFill>
                <a:latin typeface="+mn-lt"/>
              </a:defRPr>
            </a:lvl1pPr>
          </a:lstStyle>
          <a:p xmlns:a="http://schemas.openxmlformats.org/drawingml/2006/main">
            <a:fld id="{C700967C-24D0-413C-8885-7E613E7198F0}" type="slidenum">
              <a:rPr lang="en-US"/>
              <a:t>‹#›</a:t>
            </a:fld>
            <a:endParaRPr lang="en-US"/>
          </a:p>
        </p:txBody>
      </p:sp>
    </p:spTree>
  </p:cSld>
</p:sld>
</file>

<file path=ppt/slides/slide4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>
              <a:buNone/>
              <a:defRPr/>
            </a:lvl1pPr>
          </a:lstStyle>
          <a:p>
            <a:r>
              <a:rPr/>
              <a:t>Connectivity funds the build-out in AI</a:t>
            </a:r>
          </a:p>
        </p:txBody>
      </p:sp>
      <p:sp>
        <p:nvSpPr>
          <p:cNvPr id="3" name="Content Placeholder"/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>
              <a:buNone/>
              <a:defRPr sz="2000">
                <a:solidFill>
                  <a:schemeClr val="dk2"/>
                </a:solidFill>
                <a:latin typeface="+mj-lt"/>
              </a:defRPr>
            </a:lvl1pPr>
          </a:lstStyle>
          <a:p>
            <a:r>
              <a:rPr/>
              <a:t>Connectivity</a:t>
            </a:r>
          </a:p>
        </p:txBody>
      </p:sp>
      <p:sp>
        <p:nvSpPr>
          <p:cNvPr id="4" name="Content Placeholder"/>
          <p:cNvSpPr>
            <a:spLocks xmlns:a="http://schemas.openxmlformats.org/drawingml/2006/main" noGrp="1"/>
          </p:cNvSpPr>
          <p:nvPr>
            <p:ph idx="2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>
              <a:buNone/>
              <a:defRPr sz="2000">
                <a:solidFill>
                  <a:schemeClr val="dk2"/>
                </a:solidFill>
                <a:latin typeface="+mj-lt"/>
              </a:defRPr>
            </a:lvl1pPr>
          </a:lstStyle>
          <a:p>
            <a:r>
              <a:rPr/>
              <a:t>AI</a:t>
            </a:r>
          </a:p>
        </p:txBody>
      </p:sp>
      <p:sp>
        <p:nvSpPr>
          <p:cNvPr id="6" name="TextBox 6"/>
          <p:cNvSpPr>
            <a:spLocks/>
          </p:cNvSpPr>
          <p:nvPr/>
        </p:nvSpPr>
        <p:spPr>
          <a:xfrm>
            <a:off x="508000" y="177800"/>
            <a:ext cx="7620000" cy="2794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u="none">
                <a:solidFill>
                  <a:schemeClr val="accent2"/>
                </a:solidFill>
                <a:latin typeface="+mn-lt"/>
              </a:rPr>
              <a:t>Financial performance</a:t>
            </a:r>
            <a:endParaRPr sz="1100" b="1" i="0" u="none">
              <a:solidFill>
                <a:schemeClr val="accent2"/>
              </a:solidFill>
              <a:latin typeface="+mn-lt"/>
            </a:endParaRPr>
          </a:p>
        </p:txBody>
      </p:sp>
      <p:sp>
        <p:nvSpPr>
          <p:cNvPr id="7" name="TextBox 7"/>
          <p:cNvSpPr>
            <a:spLocks/>
          </p:cNvSpPr>
          <p:nvPr/>
        </p:nvSpPr>
        <p:spPr>
          <a:xfrm>
            <a:off x="508000" y="1778000"/>
            <a:ext cx="5461000" cy="43180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800" b="1" i="0" u="none">
                <a:solidFill>
                  <a:schemeClr val="accent6"/>
                </a:solidFill>
                <a:latin typeface="+mn-lt"/>
              </a:rPr>
              <a:t>$4.4B</a:t>
            </a:r>
            <a:r>
              <a:rPr sz="1800" b="1" i="0" u="none">
                <a:solidFill>
                  <a:schemeClr val="dk1"/>
                </a:solidFill>
                <a:latin typeface="+mn-lt"/>
              </a:rPr>
              <a:t> operating income in 2025, from $0.5B in 2023</a:t>
            </a:r>
            <a:endParaRPr sz="1800" b="1" i="0" u="none">
              <a:solidFill>
                <a:schemeClr val="dk1"/>
              </a:solidFill>
              <a:latin typeface="+mn-lt"/>
            </a:endParaRPr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/>
              <a:buChar char="•"/>
            </a:pPr>
            <a:r>
              <a:rPr sz="1600" b="0" i="0" u="none">
                <a:solidFill>
                  <a:schemeClr val="dk1"/>
                </a:solidFill>
                <a:latin typeface="+mn-lt"/>
              </a:rPr>
              <a:t>Revenue up from $3.9B to $11.4B</a:t>
            </a:r>
            <a:endParaRPr sz="1800" b="1" i="0" u="none">
              <a:solidFill>
                <a:schemeClr val="dk1"/>
              </a:solidFill>
              <a:latin typeface="+mn-lt"/>
            </a:endParaRPr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/>
              <a:buChar char="•"/>
            </a:pPr>
            <a:r>
              <a:rPr sz="1600" b="0" i="0" u="none">
                <a:solidFill>
                  <a:schemeClr val="dk1"/>
                </a:solidFill>
                <a:latin typeface="+mn-lt"/>
              </a:rPr>
              <a:t>Adjusted EBITDA margin of 63%</a:t>
            </a:r>
            <a:endParaRPr sz="1800" b="1" i="0" u="none">
              <a:solidFill>
                <a:schemeClr val="dk1"/>
              </a:solidFill>
              <a:latin typeface="+mn-lt"/>
            </a:endParaRPr>
          </a:p>
          <a:p>
            <a:pPr marL="45720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Font typeface="Arial"/>
              <a:buChar char="–"/>
            </a:pPr>
            <a:r>
              <a:rPr sz="1400" b="0" i="0" u="none">
                <a:solidFill>
                  <a:schemeClr val="dk1"/>
                </a:solidFill>
                <a:latin typeface="+mn-lt"/>
              </a:rPr>
              <a:t>62% in the first half of 2026</a:t>
            </a:r>
            <a:endParaRPr sz="1800" b="1" i="0" u="none">
              <a:solidFill>
                <a:schemeClr val="dk1"/>
              </a:solidFill>
              <a:latin typeface="+mn-lt"/>
            </a:endParaRPr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/>
              <a:buChar char="•"/>
            </a:pPr>
            <a:r>
              <a:rPr sz="1600" b="0" i="0" u="none">
                <a:solidFill>
                  <a:schemeClr val="dk1"/>
                </a:solidFill>
                <a:latin typeface="+mn-lt"/>
              </a:rPr>
              <a:t>Capital expenditures of $4.2B, below adjusted EBITDA</a:t>
            </a:r>
            <a:endParaRPr sz="1800" b="1" i="0" u="none">
              <a:solidFill>
                <a:schemeClr val="dk1"/>
              </a:solidFill>
              <a:latin typeface="+mn-lt"/>
            </a:endParaRPr>
          </a:p>
        </p:txBody>
      </p:sp>
      <p:sp>
        <p:nvSpPr>
          <p:cNvPr id="8" name="TextBox 8"/>
          <p:cNvSpPr>
            <a:spLocks/>
          </p:cNvSpPr>
          <p:nvPr/>
        </p:nvSpPr>
        <p:spPr>
          <a:xfrm>
            <a:off x="6223000" y="1778000"/>
            <a:ext cx="5461000" cy="43180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800" b="1" i="0" u="none">
                <a:solidFill>
                  <a:srgbClr val="C0392B"/>
                </a:solidFill>
                <a:latin typeface="+mn-lt"/>
              </a:rPr>
              <a:t>($6.4B)</a:t>
            </a:r>
            <a:r>
              <a:rPr sz="1800" b="1" i="0" u="none">
                <a:solidFill>
                  <a:schemeClr val="dk1"/>
                </a:solidFill>
                <a:latin typeface="+mn-lt"/>
              </a:rPr>
              <a:t> operating loss in 2025</a:t>
            </a:r>
            <a:endParaRPr sz="1800" b="1" i="0" u="none">
              <a:solidFill>
                <a:schemeClr val="dk1"/>
              </a:solidFill>
              <a:latin typeface="+mn-lt"/>
            </a:endParaRPr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+mj-lt"/>
              <a:buAutoNum type="arabicPeriod" startAt="1"/>
            </a:pPr>
            <a:r>
              <a:rPr sz="1600" b="0" i="0" u="none">
                <a:solidFill>
                  <a:schemeClr val="dk1"/>
                </a:solidFill>
                <a:latin typeface="+mn-lt"/>
              </a:rPr>
              <a:t>Capital expenditures of $12.7B, 61% of the company's</a:t>
            </a:r>
            <a:endParaRPr sz="1800" b="1" i="0" u="none">
              <a:solidFill>
                <a:schemeClr val="dk1"/>
              </a:solidFill>
              <a:latin typeface="+mn-lt"/>
            </a:endParaRPr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+mj-lt"/>
              <a:buAutoNum type="arabicPeriod" startAt="1"/>
            </a:pPr>
            <a:r>
              <a:rPr sz="1600" b="0" i="0" u="none">
                <a:solidFill>
                  <a:schemeClr val="dk1"/>
                </a:solidFill>
                <a:latin typeface="+mn-lt"/>
              </a:rPr>
              <a:t>Research and development of $5.1B, from $0.2B in 2023</a:t>
            </a:r>
            <a:endParaRPr sz="1800" b="1" i="0" u="none">
              <a:solidFill>
                <a:schemeClr val="dk1"/>
              </a:solidFill>
              <a:latin typeface="+mn-lt"/>
            </a:endParaRPr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+mj-lt"/>
              <a:buAutoNum type="arabicPeriod" startAt="1"/>
            </a:pPr>
            <a:r>
              <a:rPr sz="1600" b="0" i="0" u="none">
                <a:solidFill>
                  <a:schemeClr val="dk1"/>
                </a:solidFill>
                <a:latin typeface="+mn-lt"/>
              </a:rPr>
              <a:t>Adjusted EBITDA turned positive in the first half of 2026, at $0.5B</a:t>
            </a:r>
            <a:endParaRPr sz="1800" b="1" i="0" u="none">
              <a:solidFill>
                <a:schemeClr val="dk1"/>
              </a:solidFill>
              <a:latin typeface="+mn-lt"/>
            </a:endParaRPr>
          </a:p>
        </p:txBody>
      </p:sp>
      <p:sp>
        <p:nvSpPr>
          <p:cNvPr id="9" name="TextBox 9"/>
          <p:cNvSpPr>
            <a:spLocks/>
          </p:cNvSpPr>
          <p:nvPr/>
        </p:nvSpPr>
        <p:spPr>
          <a:xfrm>
            <a:off x="508000" y="6121400"/>
            <a:ext cx="7620000" cy="2540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1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rPr>
              <a:t>Source: Acme S-1/A and Q2 2026 10-Q, reportable segments</a:t>
            </a:r>
            <a:endParaRPr sz="900" b="0" i="1" u="none">
              <a:solidFill>
                <a:schemeClr val="dk1">
                  <a:lumMod val="50000"/>
                  <a:lumOff val="50000"/>
                </a:schemeClr>
              </a:solidFill>
              <a:latin typeface="+mn-lt"/>
            </a:endParaRPr>
          </a:p>
        </p:txBody>
      </p:sp>
      <p:sp>
        <p:nvSpPr>
          <p:cNvPr id="5" name="Slide Number"/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i="0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 xmlns:a="http://schemas.openxmlformats.org/drawingml/2006/main">
            <a:fld id="{08D90AE8-3CA7-4AAF-95B6-8DA5CD758FE5}" type="slidenum">
              <a:rPr lang="en-US"/>
              <a:t>‹#›</a:t>
            </a:fld>
            <a:endParaRPr lang="en-US"/>
          </a:p>
        </p:txBody>
      </p:sp>
    </p:spTree>
  </p:cSld>
</p:sld>
</file>

<file path=ppt/slides/slide5.xml><?xml version="1.0" encoding="utf-8"?>
<p:sld xmlns:r="http://schemas.openxmlformats.org/officeDocument/2006/relationships" xmlns:c="http://schemas.openxmlformats.org/drawingml/2006/chart"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>
              <a:buNone/>
              <a:defRPr/>
            </a:lvl1pPr>
          </a:lstStyle>
          <a:p>
            <a:r>
              <a:rPr/>
              <a:t>Connectivity revenue nearly tripled in two years</a:t>
            </a:r>
          </a:p>
        </p:txBody>
      </p:sp>
      <p:sp>
        <p:nvSpPr>
          <p:cNvPr id="5" name="TextBox 5"/>
          <p:cNvSpPr>
            <a:spLocks/>
          </p:cNvSpPr>
          <p:nvPr/>
        </p:nvSpPr>
        <p:spPr>
          <a:xfrm>
            <a:off x="508000" y="177800"/>
            <a:ext cx="7620000" cy="2794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u="none">
                <a:solidFill>
                  <a:schemeClr val="accent2"/>
                </a:solidFill>
                <a:latin typeface="+mn-lt"/>
              </a:rPr>
              <a:t>Financial performance</a:t>
            </a:r>
            <a:endParaRPr sz="1100" b="1" i="0" u="none">
              <a:solidFill>
                <a:schemeClr val="accent2"/>
              </a:solidFill>
              <a:latin typeface="+mn-lt"/>
            </a:endParaRPr>
          </a:p>
        </p:txBody>
      </p:sp>
      <p:graphicFrame>
        <p:nvGraphicFramePr>
          <p:cNvPr id="4" name="Chart 4"/>
          <p:cNvGraphicFramePr>
            <a:graphicFrameLocks noGrp="1"/>
          </p:cNvGraphicFramePr>
          <p:nvPr/>
        </p:nvGraphicFramePr>
        <p:xfrm>
          <a:off x="508000" y="1270000"/>
          <a:ext cx="5461000" cy="4826000"/>
        </p:xfrm>
        <a:graphic>
          <a:graphicData uri="http://schemas.openxmlformats.org/drawingml/2006/chart">
            <c:chart xmlns:r="http://schemas.openxmlformats.org/officeDocument/2006/relationships" xmlns:c="http://schemas.openxmlformats.org/drawingml/2006/chart" r:id="R6bd119f09118459d"/>
          </a:graphicData>
        </a:graphic>
      </p:graphicFrame>
      <p:sp>
        <p:nvSpPr>
          <p:cNvPr id="6" name="TextBox 6"/>
          <p:cNvSpPr>
            <a:spLocks/>
          </p:cNvSpPr>
          <p:nvPr/>
        </p:nvSpPr>
        <p:spPr>
          <a:xfrm>
            <a:off x="6223000" y="1270000"/>
            <a:ext cx="5461000" cy="2159000"/>
          </a:xfrm>
          <a:prstGeom prst="roundRect">
            <a:avLst>
              <a:gd name="adj" fmla="val 4706"/>
            </a:avLst>
          </a:prstGeom>
          <a:solidFill>
            <a:schemeClr val="accent1">
              <a:lumMod val="20000"/>
              <a:lumOff val="80000"/>
            </a:schemeClr>
          </a:solidFill>
          <a:ln w="0">
            <a:noFill/>
          </a:ln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800" b="1" i="0" u="none">
                <a:solidFill>
                  <a:schemeClr val="dk2"/>
                </a:solidFill>
                <a:latin typeface="+mn-lt"/>
              </a:rPr>
              <a:t>2025 revenue by segment</a:t>
            </a:r>
            <a:endParaRPr sz="1800" b="1" i="0" u="none">
              <a:solidFill>
                <a:schemeClr val="dk2"/>
              </a:solidFill>
              <a:latin typeface="+mn-lt"/>
            </a:endParaRPr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/>
              <a:buChar char="•"/>
            </a:pPr>
            <a:r>
              <a:rPr sz="1600" b="0" i="0" u="none">
                <a:solidFill>
                  <a:schemeClr val="dk2"/>
                </a:solidFill>
                <a:latin typeface="+mn-lt"/>
              </a:rPr>
              <a:t>Connectivity: </a:t>
            </a:r>
            <a:r>
              <a:rPr sz="1600" b="1" i="0" u="none">
                <a:solidFill>
                  <a:schemeClr val="accent1"/>
                </a:solidFill>
                <a:latin typeface="+mn-lt"/>
              </a:rPr>
              <a:t>$11.4B</a:t>
            </a:r>
            <a:endParaRPr sz="1600" b="1" i="0" u="none">
              <a:solidFill>
                <a:schemeClr val="accent1"/>
              </a:solidFill>
              <a:latin typeface="+mn-lt"/>
            </a:endParaRPr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/>
              <a:buChar char="•"/>
            </a:pPr>
            <a:r>
              <a:rPr sz="1600" b="0" i="0" u="none">
                <a:solidFill>
                  <a:schemeClr val="dk2"/>
                </a:solidFill>
                <a:latin typeface="+mn-lt"/>
              </a:rPr>
              <a:t>Space: $4.1B</a:t>
            </a:r>
            <a:endParaRPr sz="1600" b="1" i="0" u="none">
              <a:solidFill>
                <a:schemeClr val="accent1"/>
              </a:solidFill>
              <a:latin typeface="+mn-lt"/>
            </a:endParaRPr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/>
              <a:buChar char="•"/>
            </a:pPr>
            <a:r>
              <a:rPr sz="1600" b="0" i="0" u="none">
                <a:solidFill>
                  <a:schemeClr val="dk2"/>
                </a:solidFill>
                <a:latin typeface="+mn-lt"/>
              </a:rPr>
              <a:t>AI: $3.2B</a:t>
            </a:r>
            <a:endParaRPr sz="1600" b="1" i="0" u="none">
              <a:solidFill>
                <a:schemeClr val="accent1"/>
              </a:solidFill>
              <a:latin typeface="+mn-lt"/>
            </a:endParaRPr>
          </a:p>
        </p:txBody>
      </p:sp>
      <p:sp>
        <p:nvSpPr>
          <p:cNvPr id="7" name="TextBox 7"/>
          <p:cNvSpPr>
            <a:spLocks/>
          </p:cNvSpPr>
          <p:nvPr/>
        </p:nvSpPr>
        <p:spPr>
          <a:xfrm>
            <a:off x="6223000" y="3683000"/>
            <a:ext cx="5461000" cy="10160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 u="none">
                <a:solidFill>
                  <a:schemeClr val="dk1"/>
                </a:solidFill>
                <a:latin typeface="+mn-lt"/>
              </a:rPr>
              <a:t>Total revenue of </a:t>
            </a:r>
            <a:r>
              <a:rPr sz="1600" b="1" i="0" u="none">
                <a:solidFill>
                  <a:schemeClr val="dk1"/>
                </a:solidFill>
                <a:latin typeface="+mn-lt"/>
              </a:rPr>
              <a:t>$18.7B</a:t>
            </a:r>
            <a:r>
              <a:rPr sz="1600" b="0" i="0" u="none">
                <a:solidFill>
                  <a:schemeClr val="dk1"/>
                </a:solidFill>
                <a:latin typeface="+mn-lt"/>
              </a:rPr>
              <a:t> in 2025, up 33% on 2024.</a:t>
            </a:r>
            <a:endParaRPr sz="1600" b="0" i="0" u="none">
              <a:solidFill>
                <a:schemeClr val="dk1"/>
              </a:solidFill>
              <a:latin typeface="+mn-lt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1" u="none">
                <a:solidFill>
                  <a:schemeClr val="dk1"/>
                </a:solidFill>
                <a:latin typeface="+mn-lt"/>
              </a:rPr>
              <a:t>First half of 2026:</a:t>
            </a:r>
            <a:r>
              <a:rPr sz="1600" b="0" i="0" u="none">
                <a:solidFill>
                  <a:schemeClr val="dk1"/>
                </a:solidFill>
                <a:latin typeface="+mn-lt"/>
              </a:rPr>
              <a:t> $12.5B, up 54% on the first half of 2025.</a:t>
            </a:r>
            <a:endParaRPr sz="1600" b="0" i="0" u="none">
              <a:solidFill>
                <a:schemeClr val="dk1"/>
              </a:solidFill>
              <a:latin typeface="+mn-lt"/>
            </a:endParaRPr>
          </a:p>
        </p:txBody>
      </p:sp>
      <p:sp>
        <p:nvSpPr>
          <p:cNvPr id="8" name="TextBox 8"/>
          <p:cNvSpPr>
            <a:spLocks/>
          </p:cNvSpPr>
          <p:nvPr/>
        </p:nvSpPr>
        <p:spPr>
          <a:xfrm>
            <a:off x="508000" y="6121400"/>
            <a:ext cx="7620000" cy="2540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1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rPr>
              <a:t>Source: </a:t>
            </a:r>
            <a:r>
              <a:rPr sz="900" b="0" i="1">
                <a:latin typeface="+mn-lt"/>
                <a:hlinkClick xmlns:r="http://schemas.openxmlformats.org/officeDocument/2006/relationships" r:id="R80668817089444b7"/>
              </a:rPr>
              <a:t>Acme S-1/A</a:t>
            </a:r>
            <a:r>
              <a:rPr sz="900" b="0" i="1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rPr>
              <a:t>, reportable segments</a:t>
            </a:r>
            <a:endParaRPr sz="900" b="0" i="1" u="none">
              <a:solidFill>
                <a:schemeClr val="dk1">
                  <a:lumMod val="50000"/>
                  <a:lumOff val="50000"/>
                </a:schemeClr>
              </a:solidFill>
              <a:latin typeface="+mn-lt"/>
            </a:endParaRPr>
          </a:p>
        </p:txBody>
      </p:sp>
      <p:sp>
        <p:nvSpPr>
          <p:cNvPr id="3" name="Slide Number"/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i="0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 xmlns:a="http://schemas.openxmlformats.org/drawingml/2006/main">
            <a:fld id="{49E6AE90-00C2-49BF-8317-71768E6119A1}" type="slidenum">
              <a:rPr lang="en-US"/>
              <a:t>‹#›</a:t>
            </a:fld>
            <a:endParaRPr lang="en-US"/>
          </a:p>
        </p:txBody>
      </p:sp>
    </p:spTree>
  </p:cSld>
</p:sld>
</file>

<file path=ppt/slides/slide6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>
              <a:buNone/>
              <a:defRPr/>
            </a:lvl1pPr>
          </a:lstStyle>
          <a:p>
            <a:r>
              <a:rPr/>
              <a:t>Revenue rose 54% in H1; the operating loss doubled</a:t>
            </a:r>
          </a:p>
        </p:txBody>
      </p:sp>
      <p:sp>
        <p:nvSpPr>
          <p:cNvPr id="5" name="TextBox 5"/>
          <p:cNvSpPr>
            <a:spLocks/>
          </p:cNvSpPr>
          <p:nvPr/>
        </p:nvSpPr>
        <p:spPr>
          <a:xfrm>
            <a:off x="508000" y="177800"/>
            <a:ext cx="7620000" cy="2794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u="none">
                <a:solidFill>
                  <a:schemeClr val="accent2"/>
                </a:solidFill>
                <a:latin typeface="+mn-lt"/>
              </a:rPr>
              <a:t>Financial performance</a:t>
            </a:r>
            <a:endParaRPr sz="1100" b="1" i="0" u="none">
              <a:solidFill>
                <a:schemeClr val="accent2"/>
              </a:solidFill>
              <a:latin typeface="+mn-lt"/>
            </a:endParaRP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508000" y="1270000"/>
          <a:ext cx="11176000" cy="2743200"/>
        </p:xfrm>
        <a:graphic>
          <a:graphicData uri="http://schemas.openxmlformats.org/drawingml/2006/table">
            <a:tbl>
              <a:tblPr firstRow="1" bandRow="0"/>
              <a:tblGrid>
                <a:gridCol w="2286000"/>
                <a:gridCol w="2794000"/>
                <a:gridCol w="2032000"/>
                <a:gridCol w="2032000"/>
                <a:gridCol w="2032000"/>
              </a:tblGrid>
              <a:tr h="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measure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127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segment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127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H1 2025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127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H1 2026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127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Change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12700" cmpd="sng">
                      <a:solidFill>
                        <a:schemeClr val="dk1"/>
                      </a:solidFill>
                    </a:lnB>
                    <a:noFill/>
                  </a:tcPr>
                </a:tc>
              </a:tr>
              <a:tr h="0">
                <a:tc rowSpan="4"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Revenue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12700" cmpd="sng">
                      <a:solidFill>
                        <a:schemeClr val="dk1"/>
                      </a:solidFill>
                    </a:lnT>
                    <a:lnB w="254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Space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12700" cmpd="sng">
                      <a:solidFill>
                        <a:schemeClr val="dk1"/>
                      </a:solidFill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1,611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12700" cmpd="sng">
                      <a:solidFill>
                        <a:schemeClr val="dk1"/>
                      </a:solidFill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1,581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12700" cmpd="sng">
                      <a:solidFill>
                        <a:schemeClr val="dk1"/>
                      </a:solidFill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rgbClr val="C0392B"/>
                          </a:solidFill>
                          <a:latin typeface="+mn-lt"/>
                        </a:rPr>
                        <a:t>-2%</a:t>
                      </a:r>
                      <a:endParaRPr sz="1600" b="0" i="0" u="none">
                        <a:solidFill>
                          <a:srgbClr val="C0392B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12700" cmpd="sng">
                      <a:solidFill>
                        <a:schemeClr val="dk1"/>
                      </a:solidFill>
                    </a:lnT>
                    <a:lnB w="0" cmpd="sng">
                      <a:noFill/>
                    </a:lnB>
                    <a:noFill/>
                  </a:tcPr>
                </a:tc>
              </a:tr>
              <a:tr h="0">
                <a:tc vMerge="1">
                  <a:txBody>
                    <a:bodyPr/>
                    <a:lstStyle/>
                    <a:p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/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25400" cmpd="sng">
                      <a:solidFill>
                        <a:schemeClr val="dk1"/>
                      </a:solidFill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Connectivity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5,062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7,548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49%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noFill/>
                  </a:tcPr>
                </a:tc>
              </a:tr>
              <a:tr h="0">
                <a:tc vMerge="1">
                  <a:txBody>
                    <a:bodyPr/>
                    <a:lstStyle/>
                    <a:p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/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AI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127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1,465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127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3,379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127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131%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12700" cmpd="sng">
                      <a:solidFill>
                        <a:schemeClr val="dk1"/>
                      </a:solidFill>
                    </a:lnB>
                    <a:noFill/>
                  </a:tcPr>
                </a:tc>
              </a:tr>
              <a:tr h="0">
                <a:tc vMerge="1">
                  <a:txBody>
                    <a:bodyPr/>
                    <a:lstStyle/>
                    <a:p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/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Total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12700" cmpd="sng">
                      <a:solidFill>
                        <a:schemeClr val="dk1"/>
                      </a:solidFill>
                    </a:lnT>
                    <a:lnB w="254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8,138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12700" cmpd="sng">
                      <a:solidFill>
                        <a:schemeClr val="dk1"/>
                      </a:solidFill>
                    </a:lnT>
                    <a:lnB w="254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12,508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12700" cmpd="sng">
                      <a:solidFill>
                        <a:schemeClr val="dk1"/>
                      </a:solidFill>
                    </a:lnT>
                    <a:lnB w="254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54%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12700" cmpd="sng">
                      <a:solidFill>
                        <a:schemeClr val="dk1"/>
                      </a:solidFill>
                    </a:lnT>
                    <a:lnB w="25400" cmpd="sng">
                      <a:solidFill>
                        <a:schemeClr val="dk1"/>
                      </a:solidFill>
                    </a:lnB>
                    <a:noFill/>
                  </a:tcPr>
                </a:tc>
              </a:tr>
              <a:tr h="0">
                <a:tc rowSpan="4"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Operating income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254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Space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25400" cmpd="sng">
                      <a:solidFill>
                        <a:schemeClr val="dk1"/>
                      </a:solidFill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rgbClr val="C0392B"/>
                          </a:solidFill>
                          <a:latin typeface="+mn-lt"/>
                        </a:rPr>
                        <a:t>(439)</a:t>
                      </a:r>
                      <a:endParaRPr sz="1600" b="0" i="0" u="none">
                        <a:solidFill>
                          <a:srgbClr val="C0392B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25400" cmpd="sng">
                      <a:solidFill>
                        <a:schemeClr val="dk1"/>
                      </a:solidFill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rgbClr val="C0392B"/>
                          </a:solidFill>
                          <a:latin typeface="+mn-lt"/>
                        </a:rPr>
                        <a:t>(1,204)</a:t>
                      </a:r>
                      <a:endParaRPr sz="1600" b="0" i="0" u="none">
                        <a:solidFill>
                          <a:srgbClr val="C0392B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25400" cmpd="sng">
                      <a:solidFill>
                        <a:schemeClr val="dk1"/>
                      </a:solidFill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/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25400" cmpd="sng">
                      <a:solidFill>
                        <a:schemeClr val="dk1"/>
                      </a:solidFill>
                    </a:lnT>
                    <a:lnB w="0" cmpd="sng">
                      <a:noFill/>
                    </a:lnB>
                    <a:noFill/>
                  </a:tcPr>
                </a:tc>
              </a:tr>
              <a:tr h="0">
                <a:tc vMerge="1">
                  <a:txBody>
                    <a:bodyPr/>
                    <a:lstStyle/>
                    <a:p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/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25400" cmpd="sng">
                      <a:solidFill>
                        <a:schemeClr val="dk1"/>
                      </a:solidFill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Connectivity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1,956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2,844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45%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noFill/>
                  </a:tcPr>
                </a:tc>
              </a:tr>
              <a:tr h="0">
                <a:tc vMerge="1">
                  <a:txBody>
                    <a:bodyPr/>
                    <a:lstStyle/>
                    <a:p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/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>AI</a:t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127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rgbClr val="C0392B"/>
                          </a:solidFill>
                          <a:latin typeface="+mn-lt"/>
                        </a:rPr>
                        <a:t>(2,460)</a:t>
                      </a:r>
                      <a:endParaRPr sz="1600" b="0" i="0" u="none">
                        <a:solidFill>
                          <a:srgbClr val="C0392B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127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rgbClr val="C0392B"/>
                          </a:solidFill>
                          <a:latin typeface="+mn-lt"/>
                        </a:rPr>
                        <a:t>(3,726)</a:t>
                      </a:r>
                      <a:endParaRPr sz="1600" b="0" i="0" u="none">
                        <a:solidFill>
                          <a:srgbClr val="C0392B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127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/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12700" cmpd="sng">
                      <a:solidFill>
                        <a:schemeClr val="dk1"/>
                      </a:solidFill>
                    </a:lnB>
                    <a:noFill/>
                  </a:tcPr>
                </a:tc>
              </a:tr>
              <a:tr h="0">
                <a:tc vMerge="1">
                  <a:txBody>
                    <a:bodyPr/>
                    <a:lstStyle/>
                    <a:p>
                      <a:r>
                        <a:rPr sz="1600" b="0" i="0" u="none">
                          <a:solidFill>
                            <a:schemeClr val="dk1"/>
                          </a:solidFill>
                          <a:latin typeface="+mn-lt"/>
                        </a:rPr>
                        <a:t/>
                      </a:r>
                      <a:endParaRPr sz="1600" b="0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0" cmpd="sng">
                      <a:noFill/>
                    </a:lnT>
                    <a:lnB w="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>Total</a:t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12700" cmpd="sng">
                      <a:solidFill>
                        <a:schemeClr val="dk1"/>
                      </a:solidFill>
                    </a:lnT>
                    <a:lnB w="254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rgbClr val="C0392B"/>
                          </a:solidFill>
                          <a:latin typeface="+mn-lt"/>
                        </a:rPr>
                        <a:t>(943)</a:t>
                      </a:r>
                      <a:endParaRPr sz="1600" b="1" i="0" u="none">
                        <a:solidFill>
                          <a:srgbClr val="C0392B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12700" cmpd="sng">
                      <a:solidFill>
                        <a:schemeClr val="dk1"/>
                      </a:solidFill>
                    </a:lnT>
                    <a:lnB w="254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rgbClr val="C0392B"/>
                          </a:solidFill>
                          <a:latin typeface="+mn-lt"/>
                        </a:rPr>
                        <a:t>(2,086)</a:t>
                      </a:r>
                      <a:endParaRPr sz="1600" b="1" i="0" u="none">
                        <a:solidFill>
                          <a:srgbClr val="C0392B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12700" cmpd="sng">
                      <a:solidFill>
                        <a:schemeClr val="dk1"/>
                      </a:solidFill>
                    </a:lnT>
                    <a:lnB w="25400" cmpd="sng">
                      <a:solidFill>
                        <a:schemeClr val="dk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 b="1" i="0" u="none">
                          <a:solidFill>
                            <a:schemeClr val="dk1"/>
                          </a:solidFill>
                          <a:latin typeface="+mn-lt"/>
                        </a:rPr>
                        <a:t/>
                      </a:r>
                      <a:endParaRPr sz="1600" b="1" i="0" u="none">
                        <a:solidFill>
                          <a:schemeClr val="dk1"/>
                        </a:solidFill>
                        <a:latin typeface="+mn-lt"/>
                      </a:endParaRPr>
                    </a:p>
                  </a:txBody>
                  <a:tcPr marL="91440" marR="91440" marT="45720" marB="45720" anchor="t">
                    <a:lnL w="0" cmpd="sng">
                      <a:noFill/>
                    </a:lnL>
                    <a:lnR w="0" cmpd="sng">
                      <a:noFill/>
                    </a:lnR>
                    <a:lnT w="12700" cmpd="sng">
                      <a:solidFill>
                        <a:schemeClr val="dk1"/>
                      </a:solidFill>
                    </a:lnT>
                    <a:lnB w="25400" cmpd="sng">
                      <a:solidFill>
                        <a:schemeClr val="dk1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" name="TextBox 6"/>
          <p:cNvSpPr>
            <a:spLocks/>
          </p:cNvSpPr>
          <p:nvPr/>
        </p:nvSpPr>
        <p:spPr>
          <a:xfrm>
            <a:off x="508000" y="6121400"/>
            <a:ext cx="7620000" cy="2540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1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rPr>
              <a:t>Source: Acme Q2 2026 10-Q, reportable segments. $ in millions.</a:t>
            </a:r>
            <a:endParaRPr sz="900" b="0" i="1" u="none">
              <a:solidFill>
                <a:schemeClr val="dk1">
                  <a:lumMod val="50000"/>
                  <a:lumOff val="50000"/>
                </a:schemeClr>
              </a:solidFill>
              <a:latin typeface="+mn-lt"/>
            </a:endParaRPr>
          </a:p>
        </p:txBody>
      </p:sp>
      <p:sp>
        <p:nvSpPr>
          <p:cNvPr id="3" name="Slide Number"/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i="0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 xmlns:a="http://schemas.openxmlformats.org/drawingml/2006/main">
            <a:fld id="{49E6AE90-00C2-49BF-8317-71768E6119A1}" type="slidenum">
              <a:rPr lang="en-US"/>
              <a:t>‹#›</a:t>
            </a:fld>
            <a:endParaRPr lang="en-US"/>
          </a:p>
        </p:txBody>
      </p:sp>
    </p:spTree>
  </p:cSld>
</p:sld>
</file>

<file path=ppt/slides/slide7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>
              <a:buNone/>
              <a:defRPr/>
            </a:lvl1pPr>
          </a:lstStyle>
          <a:p>
            <a:r>
              <a:rPr/>
              <a:t>Capital spending ran six times adjusted EBITDA</a:t>
            </a:r>
          </a:p>
        </p:txBody>
      </p:sp>
      <p:sp>
        <p:nvSpPr>
          <p:cNvPr id="7" name="TextBox 7"/>
          <p:cNvSpPr>
            <a:spLocks/>
          </p:cNvSpPr>
          <p:nvPr/>
        </p:nvSpPr>
        <p:spPr>
          <a:xfrm>
            <a:off x="508000" y="177800"/>
            <a:ext cx="7620000" cy="2794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u="none">
                <a:solidFill>
                  <a:schemeClr val="accent2"/>
                </a:solidFill>
                <a:latin typeface="+mn-lt"/>
              </a:rPr>
              <a:t>Capital allocation</a:t>
            </a:r>
            <a:endParaRPr sz="1100" b="1" i="0" u="none">
              <a:solidFill>
                <a:schemeClr val="accent2"/>
              </a:solidFill>
              <a:latin typeface="+mn-lt"/>
            </a:endParaRPr>
          </a:p>
        </p:txBody>
      </p:sp>
      <p:sp>
        <p:nvSpPr>
          <p:cNvPr id="8" name="TextBox 8"/>
          <p:cNvSpPr>
            <a:spLocks/>
          </p:cNvSpPr>
          <p:nvPr/>
        </p:nvSpPr>
        <p:spPr>
          <a:xfrm>
            <a:off x="508000" y="1270000"/>
            <a:ext cx="2540000" cy="2794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rPr>
              <a:t>Adjusted EBITDA by segment</a:t>
            </a:r>
            <a:endParaRPr sz="1100" b="0" i="0" u="none">
              <a:solidFill>
                <a:schemeClr val="dk1">
                  <a:lumMod val="50000"/>
                  <a:lumOff val="50000"/>
                </a:schemeClr>
              </a:solidFill>
              <a:latin typeface="+mn-lt"/>
            </a:endParaRPr>
          </a:p>
        </p:txBody>
      </p:sp>
      <p:sp>
        <p:nvSpPr>
          <p:cNvPr id="9" name="TextBox 9"/>
          <p:cNvSpPr>
            <a:spLocks/>
          </p:cNvSpPr>
          <p:nvPr/>
        </p:nvSpPr>
        <p:spPr>
          <a:xfrm>
            <a:off x="508000" y="1574800"/>
            <a:ext cx="2540000" cy="914400"/>
          </a:xfrm>
          <a:prstGeom prst="roundRect">
            <a:avLst>
              <a:gd name="adj" fmla="val 8333"/>
            </a:avLst>
          </a:prstGeom>
          <a:solidFill>
            <a:schemeClr val="lt2"/>
          </a:solidFill>
          <a:ln w="0"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 u="none">
                <a:solidFill>
                  <a:schemeClr val="dk1"/>
                </a:solidFill>
                <a:latin typeface="+mn-lt"/>
              </a:rPr>
              <a:t>Connectivity</a:t>
            </a:r>
            <a:endParaRPr sz="1600" b="0" i="0" u="none">
              <a:solidFill>
                <a:schemeClr val="dk1"/>
              </a:solidFill>
              <a:latin typeface="+mn-lt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i="0" u="none">
                <a:solidFill>
                  <a:schemeClr val="accent6"/>
                </a:solidFill>
                <a:latin typeface="+mj-lt"/>
              </a:rPr>
              <a:t>$4.7B</a:t>
            </a:r>
            <a:endParaRPr sz="2800" b="1" i="0" u="none">
              <a:solidFill>
                <a:schemeClr val="accent6"/>
              </a:solidFill>
              <a:latin typeface="+mj-lt"/>
            </a:endParaRPr>
          </a:p>
        </p:txBody>
      </p:sp>
      <p:sp>
        <p:nvSpPr>
          <p:cNvPr id="10" name="TextBox 10"/>
          <p:cNvSpPr>
            <a:spLocks/>
          </p:cNvSpPr>
          <p:nvPr/>
        </p:nvSpPr>
        <p:spPr>
          <a:xfrm>
            <a:off x="508000" y="2895600"/>
            <a:ext cx="2540000" cy="914400"/>
          </a:xfrm>
          <a:prstGeom prst="roundRect">
            <a:avLst>
              <a:gd name="adj" fmla="val 8333"/>
            </a:avLst>
          </a:prstGeom>
          <a:solidFill>
            <a:schemeClr val="lt2"/>
          </a:solidFill>
          <a:ln w="0"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 u="none">
                <a:solidFill>
                  <a:schemeClr val="dk1"/>
                </a:solidFill>
                <a:latin typeface="+mn-lt"/>
              </a:rPr>
              <a:t>AI</a:t>
            </a:r>
            <a:endParaRPr sz="1600" b="0" i="0" u="none">
              <a:solidFill>
                <a:schemeClr val="dk1"/>
              </a:solidFill>
              <a:latin typeface="+mn-lt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i="0" u="none">
                <a:solidFill>
                  <a:schemeClr val="dk1"/>
                </a:solidFill>
                <a:latin typeface="+mj-lt"/>
              </a:rPr>
              <a:t>$0.5B</a:t>
            </a:r>
            <a:endParaRPr sz="2800" b="1" i="0" u="none">
              <a:solidFill>
                <a:schemeClr val="dk1"/>
              </a:solidFill>
              <a:latin typeface="+mj-lt"/>
            </a:endParaRPr>
          </a:p>
        </p:txBody>
      </p:sp>
      <p:sp>
        <p:nvSpPr>
          <p:cNvPr id="11" name="TextBox 11"/>
          <p:cNvSpPr>
            <a:spLocks/>
          </p:cNvSpPr>
          <p:nvPr/>
        </p:nvSpPr>
        <p:spPr>
          <a:xfrm>
            <a:off x="508000" y="4216400"/>
            <a:ext cx="2540000" cy="914400"/>
          </a:xfrm>
          <a:prstGeom prst="roundRect">
            <a:avLst>
              <a:gd name="adj" fmla="val 8333"/>
            </a:avLst>
          </a:prstGeom>
          <a:solidFill>
            <a:schemeClr val="lt2"/>
          </a:solidFill>
          <a:ln w="0">
            <a:noFill/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 u="none">
                <a:solidFill>
                  <a:schemeClr val="dk1"/>
                </a:solidFill>
                <a:latin typeface="+mn-lt"/>
              </a:rPr>
              <a:t>Space</a:t>
            </a:r>
            <a:endParaRPr sz="1600" b="0" i="0" u="none">
              <a:solidFill>
                <a:schemeClr val="dk1"/>
              </a:solidFill>
              <a:latin typeface="+mn-lt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i="0" u="none">
                <a:solidFill>
                  <a:srgbClr val="C0392B"/>
                </a:solidFill>
                <a:latin typeface="+mj-lt"/>
              </a:rPr>
              <a:t>($0.6B)</a:t>
            </a:r>
            <a:endParaRPr sz="2800" b="1" i="0" u="none">
              <a:solidFill>
                <a:srgbClr val="C0392B"/>
              </a:solidFill>
              <a:latin typeface="+mj-lt"/>
            </a:endParaRPr>
          </a:p>
        </p:txBody>
      </p:sp>
      <p:sp>
        <p:nvSpPr>
          <p:cNvPr id="4" name="Shape 4"/>
          <p:cNvSpPr>
            <a:spLocks/>
          </p:cNvSpPr>
          <p:nvPr/>
        </p:nvSpPr>
        <p:spPr>
          <a:xfrm>
            <a:off x="3200400" y="1574800"/>
            <a:ext cx="254000" cy="3556000"/>
          </a:xfrm>
          <a:prstGeom prst="rightBrace">
            <a:avLst/>
          </a:prstGeom>
          <a:noFill/>
          <a:ln w="19050">
            <a:solidFill>
              <a:schemeClr val="dk1">
                <a:lumMod val="50000"/>
                <a:lumOff val="50000"/>
              </a:schemeClr>
            </a:solidFill>
          </a:ln>
        </p:spPr>
      </p:sp>
      <p:sp>
        <p:nvSpPr>
          <p:cNvPr id="5" name="Shape 5"/>
          <p:cNvSpPr>
            <a:spLocks/>
          </p:cNvSpPr>
          <p:nvPr/>
        </p:nvSpPr>
        <p:spPr>
          <a:xfrm>
            <a:off x="3505200" y="3352800"/>
            <a:ext cx="812800" cy="0"/>
          </a:xfrm>
          <a:prstGeom prst="line">
            <a:avLst/>
          </a:prstGeom>
          <a:ln w="19050">
            <a:solidFill>
              <a:schemeClr val="dk1">
                <a:lumMod val="50000"/>
                <a:lumOff val="50000"/>
              </a:schemeClr>
            </a:solidFill>
            <a:tailEnd type="triangle"/>
          </a:ln>
        </p:spPr>
      </p:sp>
      <p:sp>
        <p:nvSpPr>
          <p:cNvPr id="12" name="TextBox 12"/>
          <p:cNvSpPr>
            <a:spLocks/>
          </p:cNvSpPr>
          <p:nvPr/>
        </p:nvSpPr>
        <p:spPr>
          <a:xfrm>
            <a:off x="4368800" y="2590800"/>
            <a:ext cx="2540000" cy="1524000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accent1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 u="none">
                <a:solidFill>
                  <a:schemeClr val="dk1"/>
                </a:solidFill>
                <a:latin typeface="+mn-lt"/>
              </a:rPr>
              <a:t>Total</a:t>
            </a:r>
            <a:endParaRPr sz="1600" b="0" i="0" u="none">
              <a:solidFill>
                <a:schemeClr val="dk1"/>
              </a:solidFill>
              <a:latin typeface="+mn-lt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800" b="1" i="0" u="none">
                <a:solidFill>
                  <a:schemeClr val="dk1"/>
                </a:solidFill>
                <a:latin typeface="+mj-lt"/>
              </a:rPr>
              <a:t>$4.7B</a:t>
            </a:r>
            <a:endParaRPr sz="2800" b="1" i="0" u="none">
              <a:solidFill>
                <a:schemeClr val="dk1"/>
              </a:solidFill>
              <a:latin typeface="+mj-lt"/>
            </a:endParaRPr>
          </a:p>
        </p:txBody>
      </p:sp>
      <p:sp>
        <p:nvSpPr>
          <p:cNvPr id="6" name="Shape 6"/>
          <p:cNvSpPr>
            <a:spLocks/>
          </p:cNvSpPr>
          <p:nvPr/>
        </p:nvSpPr>
        <p:spPr>
          <a:xfrm>
            <a:off x="7061200" y="3098800"/>
            <a:ext cx="660400" cy="508000"/>
          </a:xfrm>
          <a:prstGeom prst="rightArrow">
            <a:avLst/>
          </a:prstGeom>
          <a:solidFill>
            <a:schemeClr val="accent3"/>
          </a:solidFill>
          <a:ln w="0">
            <a:noFill/>
          </a:ln>
        </p:spPr>
      </p:sp>
      <p:sp>
        <p:nvSpPr>
          <p:cNvPr id="13" name="TextBox 13"/>
          <p:cNvSpPr>
            <a:spLocks/>
          </p:cNvSpPr>
          <p:nvPr/>
        </p:nvSpPr>
        <p:spPr>
          <a:xfrm>
            <a:off x="7874000" y="1574800"/>
            <a:ext cx="3810000" cy="355600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txBody>
          <a:bodyPr wrap="square" lIns="203200" tIns="203200" rIns="203200" bIns="20320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 u="none">
                <a:solidFill>
                  <a:schemeClr val="lt1"/>
                </a:solidFill>
                <a:latin typeface="+mn-lt"/>
              </a:rPr>
              <a:t>Capital expenditures</a:t>
            </a:r>
            <a:endParaRPr sz="1600" b="0" i="0" u="none">
              <a:solidFill>
                <a:schemeClr val="lt1"/>
              </a:solidFill>
              <a:latin typeface="+mn-lt"/>
            </a:endParaRPr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 b="1" i="0" u="none">
                <a:solidFill>
                  <a:schemeClr val="lt1"/>
                </a:solidFill>
                <a:latin typeface="+mj-lt"/>
              </a:rPr>
              <a:t>$28.5B</a:t>
            </a:r>
            <a:endParaRPr sz="4000" b="1" i="0" u="none">
              <a:solidFill>
                <a:schemeClr val="lt1"/>
              </a:solidFill>
              <a:latin typeface="+mj-lt"/>
            </a:endParaRPr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/>
              <a:buChar char="•"/>
            </a:pPr>
            <a:r>
              <a:rPr sz="1600" b="0" i="0" u="none">
                <a:solidFill>
                  <a:schemeClr val="lt1"/>
                </a:solidFill>
                <a:latin typeface="+mn-lt"/>
              </a:rPr>
              <a:t>AI: $23.6B</a:t>
            </a:r>
            <a:endParaRPr sz="1600" b="0" i="0" u="none">
              <a:solidFill>
                <a:schemeClr val="lt1"/>
              </a:solidFill>
              <a:latin typeface="+mn-lt"/>
            </a:endParaRPr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/>
              <a:buChar char="•"/>
            </a:pPr>
            <a:r>
              <a:rPr sz="1600" b="0" i="0" u="none">
                <a:solidFill>
                  <a:schemeClr val="lt1"/>
                </a:solidFill>
                <a:latin typeface="+mn-lt"/>
              </a:rPr>
              <a:t>Connectivity: $2.7B</a:t>
            </a:r>
            <a:endParaRPr sz="1600" b="0" i="0" u="none">
              <a:solidFill>
                <a:schemeClr val="lt1"/>
              </a:solidFill>
              <a:latin typeface="+mn-lt"/>
            </a:endParaRPr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Font typeface="Arial"/>
              <a:buChar char="•"/>
            </a:pPr>
            <a:r>
              <a:rPr sz="1600" b="0" i="0" u="none">
                <a:solidFill>
                  <a:schemeClr val="lt1"/>
                </a:solidFill>
                <a:latin typeface="+mn-lt"/>
              </a:rPr>
              <a:t>Space: $2.2B</a:t>
            </a:r>
            <a:endParaRPr sz="1600" b="0" i="0" u="none">
              <a:solidFill>
                <a:schemeClr val="lt1"/>
              </a:solidFill>
              <a:latin typeface="+mn-lt"/>
            </a:endParaRPr>
          </a:p>
        </p:txBody>
      </p:sp>
      <p:sp>
        <p:nvSpPr>
          <p:cNvPr id="14" name="TextBox 14"/>
          <p:cNvSpPr>
            <a:spLocks/>
          </p:cNvSpPr>
          <p:nvPr/>
        </p:nvSpPr>
        <p:spPr>
          <a:xfrm>
            <a:off x="4368800" y="4826000"/>
            <a:ext cx="2794000" cy="838200"/>
          </a:xfrm>
          <a:prstGeom prst="wedgeRectCallout">
            <a:avLst/>
          </a:prstGeom>
          <a:solidFill>
            <a:schemeClr val="lt1"/>
          </a:solidFill>
          <a:ln w="19050">
            <a:solidFill>
              <a:schemeClr val="accent3"/>
            </a:solidFill>
          </a:ln>
        </p:spPr>
        <p:txBody>
          <a:bodyPr wrap="square" lIns="91440" tIns="45720" rIns="91440" bIns="4572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 u="none">
                <a:solidFill>
                  <a:schemeClr val="dk2"/>
                </a:solidFill>
                <a:latin typeface="+mn-lt"/>
              </a:rPr>
              <a:t>AI capital spending rose from $3.3B in the first half of 2025.</a:t>
            </a:r>
            <a:endParaRPr sz="1600" b="0" i="0" u="none">
              <a:solidFill>
                <a:schemeClr val="dk2"/>
              </a:solidFill>
              <a:latin typeface="+mn-lt"/>
            </a:endParaRPr>
          </a:p>
        </p:txBody>
      </p:sp>
      <p:sp>
        <p:nvSpPr>
          <p:cNvPr id="15" name="TextBox 15"/>
          <p:cNvSpPr>
            <a:spLocks/>
          </p:cNvSpPr>
          <p:nvPr/>
        </p:nvSpPr>
        <p:spPr>
          <a:xfrm>
            <a:off x="508000" y="6121400"/>
            <a:ext cx="7620000" cy="254000"/>
          </a:xfrm>
          <a:prstGeom prst="rect">
            <a:avLst/>
          </a:prstGeom>
        </p:spPr>
        <p:txBody>
          <a:bodyPr wrap="square" lIns="91440" tIns="45720" rIns="91440" bIns="4572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1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rPr>
              <a:t>Source: Acme Q2 2026 10-Q, reportable segments</a:t>
            </a:r>
            <a:endParaRPr sz="900" b="0" i="1" u="none">
              <a:solidFill>
                <a:schemeClr val="dk1">
                  <a:lumMod val="50000"/>
                  <a:lumOff val="50000"/>
                </a:schemeClr>
              </a:solidFill>
              <a:latin typeface="+mn-lt"/>
            </a:endParaRPr>
          </a:p>
        </p:txBody>
      </p:sp>
      <p:sp>
        <p:nvSpPr>
          <p:cNvPr id="3" name="Slide Number"/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 wrap="square" lIns="91440" tIns="45720" rIns="91440" bIns="45720" anchor="t">
            <a:noAutofit/>
          </a:bodyPr>
          <a:lstStyle xmlns:a="http://schemas.openxmlformats.org/drawingml/2006/main"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100" b="0" i="0" u="none">
                <a:solidFill>
                  <a:schemeClr val="dk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 xmlns:a="http://schemas.openxmlformats.org/drawingml/2006/main">
            <a:fld id="{49E6AE90-00C2-49BF-8317-71768E6119A1}" type="slidenum">
              <a:rPr lang="en-US"/>
              <a:t>‹#›</a:t>
            </a:fld>
            <a:endParaRPr lang="en-US"/>
          </a:p>
        </p:txBody>
      </p:sp>
    </p:spTree>
  </p:cSld>
</p:sld>
</file>

<file path=ppt/theme/theme1.xml><?xml version="1.0" encoding="utf-8"?>
<a:theme xmlns:thm15="http://schemas.microsoft.com/office/thememl/2012/main" xmlns:a="http://schemas.openxmlformats.org/drawingml/2006/main" name="Acme">
  <a:themeElements>
    <a:clrScheme name="Office">
      <a:dk1>
        <a:srgbClr val="1B1B1B"/>
      </a:dk1>
      <a:lt1>
        <a:srgbClr val="FFFFFF"/>
      </a:lt1>
      <a:dk2>
        <a:srgbClr val="1F3A5F"/>
      </a:dk2>
      <a:lt2>
        <a:srgbClr val="E9EDF2"/>
      </a:lt2>
      <a:accent1>
        <a:srgbClr val="1F4E79"/>
      </a:accent1>
      <a:accent2>
        <a:srgbClr val="2E86AB"/>
      </a:accent2>
      <a:accent3>
        <a:srgbClr val="F2A541"/>
      </a:accent3>
      <a:accent4>
        <a:srgbClr val="6C757D"/>
      </a:accent4>
      <a:accent5>
        <a:srgbClr val="A23B72"/>
      </a:accent5>
      <a:accent6>
        <a:srgbClr val="3B8F5A"/>
      </a:accent6>
      <a:hlink>
        <a:srgbClr val="0563C1"/>
      </a:hlink>
      <a:folHlink>
        <a:srgbClr val="954F72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Acme Q2 2026 Board Update</dc:title>
  <dcterms:created xsi:type="dcterms:W3CDTF">2026-10-21T21:40:43Z</dcterms:created>
  <dcterms:modified xsi:type="dcterms:W3CDTF">2026-10-21T21:40:43Z</dcterms:modified>
</cp:coreProperties>
</file>