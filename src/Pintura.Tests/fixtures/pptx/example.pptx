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75fc99208a5144a7"/>
    <p:sldId id="258" r:id="Rae32d8a2d4a74792"/>
    <p:sldId id="259" r:id="R52191ba9cae9416e"/>
    <p:sldId id="260" r:id="Rf7339aa305704bc2"/>
    <p:sldId id="261" r:id="R0acc059749194fea"/>
    <p:sldId id="262" r:id="R01bd5a5da69c4c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75fc99208a5144a7" /><Relationship Type="http://schemas.openxmlformats.org/officeDocument/2006/relationships/slide" Target="/ppt/slides/slide3.xml" Id="Rae32d8a2d4a74792" /><Relationship Type="http://schemas.openxmlformats.org/officeDocument/2006/relationships/slide" Target="/ppt/slides/slide4.xml" Id="R52191ba9cae9416e" /><Relationship Type="http://schemas.openxmlformats.org/officeDocument/2006/relationships/slide" Target="/ppt/slides/slide5.xml" Id="Rf7339aa305704bc2" /><Relationship Type="http://schemas.openxmlformats.org/officeDocument/2006/relationships/slide" Target="/ppt/slides/slide6.xml" Id="R0acc059749194fea" /><Relationship Type="http://schemas.openxmlformats.org/officeDocument/2006/relationships/slide" Target="/ppt/slides/slide7.xml" Id="R01bd5a5da69c4c7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0888055346415d" /><Relationship Type="http://schemas.openxmlformats.org/officeDocument/2006/relationships/image" Target="/ppt/media/image.png" Id="Read21d78198f43a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f0ba69b32244c3" /><Relationship Type="http://schemas.openxmlformats.org/officeDocument/2006/relationships/image" Target="/ppt/media/image2.png" Id="Rdbb74adc313448c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e0f095384f4651" /><Relationship Type="http://schemas.openxmlformats.org/officeDocument/2006/relationships/image" Target="/ppt/media/image3.png" Id="Rf91c748309bf48e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d36fad69cb4467" /></Relationships>
</file>

<file path=ppt/slideLayouts/slideLayout2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508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left_heading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6223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right_heading</a:t>
            </a:r>
          </a:p>
        </p:txBody>
      </p:sp>
      <p:sp>
        <p:nvSpPr>
          <p:cNvPr id="7" name="TextBox 7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954444DB-BCD9-45E3-B7F1-6A8B71F5199C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ead21d78198f43a1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8" name="TextBox 8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62AB569E-F561-4D8F-B42D-C35D970142C2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dbb74adc313448ca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6" name="TextBox 6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ver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762000" y="2413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762000" y="2032000"/>
            <a:ext cx="10668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kicker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762000" y="3683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subtitle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f91c748309bf48e5"/>
          <a:stretch>
            <a:fillRect/>
          </a:stretch>
        </p:blipFill>
        <p:spPr>
          <a:xfrm>
            <a:off x="846667" y="762000"/>
            <a:ext cx="1354667" cy="5080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762000" y="1778000"/>
            <a:ext cx="1016000" cy="5080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812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4" name="TextBox 4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8128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>
            <a:fld id="{FF8FCF47-C98D-466D-A12F-FB65540FDF89}" type="slidenum">
              <a:rPr lang="en-US"/>
              <a:t>‹#›</a:t>
            </a:fld>
            <a:endParaRPr lang="en-US"/>
          </a:p>
        </p:txBody>
      </p:sp>
      <p:sp>
        <p:nvSpPr>
          <p:cNvPr id="2" name="Shape 2"/>
          <p:cNvSpPr>
            <a:spLocks/>
          </p:cNvSpPr>
          <p:nvPr/>
        </p:nvSpPr>
        <p:spPr>
          <a:xfrm>
            <a:off x="9398000" y="1905000"/>
            <a:ext cx="2032000" cy="3048000"/>
          </a:xfrm>
          <a:prstGeom prst="chevron">
            <a:avLst/>
          </a:prstGeom>
          <a:solidFill>
            <a:schemeClr val="lt1">
              <a:alpha val="15000"/>
            </a:schemeClr>
          </a:solidFill>
          <a:ln w="0">
            <a:noFill/>
          </a:ln>
        </p:spPr>
      </p:sp>
    </p:spTree>
  </p:cSld>
  <p:clrMapOvr>
    <a:masterClrMapping xmlns:a="http://schemas.openxmlformats.org/drawingml/2006/main"/>
  </p:clrMapOvr>
  <p:hf hdr="0"/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5615b54c5a504581" /><Relationship Type="http://schemas.openxmlformats.org/officeDocument/2006/relationships/slideLayout" Target="/ppt/slideLayouts/slideLayout3.xml" Id="Rae9a63b8941b4ce6" /><Relationship Type="http://schemas.openxmlformats.org/officeDocument/2006/relationships/slideLayout" Target="/ppt/slideLayouts/slideLayout4.xml" Id="R2e0da121b49f4bfe" /><Relationship Type="http://schemas.openxmlformats.org/officeDocument/2006/relationships/slideLayout" Target="/ppt/slideLayouts/slideLayout5.xml" Id="R3f4ed27aa0774e5f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5615b54c5a504581"/>
    <p:sldLayoutId id="2147483651" r:id="Rae9a63b8941b4ce6"/>
    <p:sldLayoutId id="2147483652" r:id="R2e0da121b49f4bfe"/>
    <p:sldLayoutId id="2147483653" r:id="R3f4ed27aa0774e5f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2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·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cdc3c4b0bf84f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910d76c00114c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4c52db2da84c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6dfed061b3424f" /><Relationship Type="http://schemas.openxmlformats.org/officeDocument/2006/relationships/chart" Target="/ppt/slides/charts/chart1.xml" Id="R92ae121143214d35" /><Relationship Type="http://schemas.openxmlformats.org/officeDocument/2006/relationships/hyperlink" Target="https://example.com/acme/s-1a" TargetMode="External" Id="R4822a29f8f7948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934694e26e24f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56ccd35ea4490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b46e7cf867de4571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4">
                <a:lumMod val="60000"/>
                <a:lumOff val="4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3557</c:v>
                </c:pt>
                <c:pt idx="1">
                  <c:v>3796</c:v>
                </c:pt>
                <c:pt idx="2">
                  <c:v>4086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3869</c:v>
                </c:pt>
                <c:pt idx="1">
                  <c:v>7599</c:v>
                </c:pt>
                <c:pt idx="2">
                  <c:v>11387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2961</c:v>
                </c:pt>
                <c:pt idx="1">
                  <c:v>2620</c:v>
                </c:pt>
                <c:pt idx="2">
                  <c:v>3201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0000"/>
          <c:min val="0"/>
        </c:scaling>
        <c:delete val="1"/>
        <c:axPos val="l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2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000" b="0">
              <a:solidFill>
                <a:schemeClr val="dk1">
                  <a:lumMod val="50000"/>
                  <a:lumOff val="50000"/>
                </a:schemeClr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b46e7cf867de4571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Q2 2026 Board Update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Acme Corporation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August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Financial performance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Revenue of $12.5B in the first half, up 54%, with Connectivity carrying the operating income.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 xmlns:a="http://schemas.openxmlformats.org/drawingml/2006/main">
            <a:fld id="{FF8FCF47-C98D-466D-A12F-FB65540FDF89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funds the build-out in AI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Connectivity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AI</a:t>
            </a: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accent6"/>
                </a:solidFill>
                <a:latin typeface="+mn-lt"/>
              </a:rPr>
              <a:t>$4.4B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income in 2025, from $0.5B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 up from $3.9B to $11.4B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margin of 63%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62% in the 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$4.2B, below adjusted EBITDA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6223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rgbClr val="C0392B"/>
                </a:solidFill>
                <a:latin typeface="+mn-lt"/>
              </a:rPr>
              <a:t>($6.4B)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loss in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$12.7B, 61% of the company's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 of $5.1B, from $0.2B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turned positive in the first half of 2026, at $0.5B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and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5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954444DB-BCD9-45E3-B7F1-6A8B71F5199C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revenue nearly tripled in two years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92ae121143214d35"/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6223000" y="1270000"/>
            <a:ext cx="5461000" cy="2159000"/>
          </a:xfrm>
          <a:prstGeom prst="roundRect">
            <a:avLst>
              <a:gd name="adj" fmla="val 4706"/>
            </a:avLst>
          </a:prstGeom>
          <a:solidFill>
            <a:schemeClr val="accent1">
              <a:lumMod val="20000"/>
              <a:lumOff val="80000"/>
            </a:schemeClr>
          </a:solidFill>
          <a:ln w="0"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2"/>
                </a:solidFill>
                <a:latin typeface="+mn-lt"/>
              </a:rPr>
              <a:t>2025 revenue by segment</a:t>
            </a:r>
            <a:endParaRPr sz="1800" b="1" i="0" u="none">
              <a:solidFill>
                <a:schemeClr val="dk2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$11.4B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Space: $4.1B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AI: $3.2B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6223000" y="3683000"/>
            <a:ext cx="5461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 revenue of </a:t>
            </a:r>
            <a:r>
              <a:rPr sz="1600" b="1" i="0" u="none">
                <a:solidFill>
                  <a:schemeClr val="dk1"/>
                </a:solidFill>
                <a:latin typeface="+mn-lt"/>
              </a:rPr>
              <a:t>$18.7B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in 2025, up 33% on 2024.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>
                <a:solidFill>
                  <a:schemeClr val="dk1"/>
                </a:solidFill>
                <a:latin typeface="+mn-lt"/>
              </a:rPr>
              <a:t>First half of 2026: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$12.5B, up 54% on the first half of 2025.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</a:t>
            </a:r>
            <a:r>
              <a:rPr sz="900" b="0" i="1">
                <a:latin typeface="+mn-lt"/>
                <a:hlinkClick xmlns:r="http://schemas.openxmlformats.org/officeDocument/2006/relationships" r:id="R4822a29f8f79485e"/>
              </a:rPr>
              <a:t>Acme S-1/A</a:t>
            </a: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62AB569E-F561-4D8F-B42D-C35D970142C2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54% in H1; the operating loss doubled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2286000"/>
                <a:gridCol w="2794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measure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segment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Change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1,611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1,581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-2%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5,062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7,548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49%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1,465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3,379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131%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8,138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12,508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54%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(439)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(1,204)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1,956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2,844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45%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(2,460)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(3,726)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(943)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(2,086)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segments. $ in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62AB569E-F561-4D8F-B42D-C35D970142C2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spending ran six times adjusted EBITDA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Capital allocation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270000"/>
            <a:ext cx="254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Adjusted EBITDA by segment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15748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accent6"/>
                </a:solidFill>
                <a:latin typeface="+mj-lt"/>
              </a:rPr>
              <a:t>$4.7B</a:t>
            </a:r>
            <a:endParaRPr sz="2800" b="1" i="0" u="none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508000" y="28956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$0.5B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42164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rgbClr val="C0392B"/>
                </a:solidFill>
                <a:latin typeface="+mj-lt"/>
              </a:rPr>
              <a:t>($0.6B)</a:t>
            </a:r>
            <a:endParaRPr sz="2800" b="1" i="0" u="none">
              <a:solidFill>
                <a:srgbClr val="C0392B"/>
              </a:solidFill>
              <a:latin typeface="+mj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200400" y="1574800"/>
            <a:ext cx="254000" cy="3556000"/>
          </a:xfrm>
          <a:prstGeom prst="rightBrace">
            <a:avLst/>
          </a:prstGeom>
          <a:noFill/>
          <a:ln w="19050">
            <a:solidFill>
              <a:schemeClr val="dk1">
                <a:lumMod val="50000"/>
                <a:lumOff val="50000"/>
              </a:schemeClr>
            </a:solidFill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505200" y="3352800"/>
            <a:ext cx="812800" cy="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12" name="TextBox 12"/>
          <p:cNvSpPr>
            <a:spLocks/>
          </p:cNvSpPr>
          <p:nvPr/>
        </p:nvSpPr>
        <p:spPr>
          <a:xfrm>
            <a:off x="4368800" y="2590800"/>
            <a:ext cx="2540000" cy="1524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$4.7B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6" name="Shape 6"/>
          <p:cNvSpPr>
            <a:spLocks/>
          </p:cNvSpPr>
          <p:nvPr/>
        </p:nvSpPr>
        <p:spPr>
          <a:xfrm>
            <a:off x="7061200" y="3098800"/>
            <a:ext cx="660400" cy="508000"/>
          </a:xfrm>
          <a:prstGeom prst="rightArrow">
            <a:avLst/>
          </a:prstGeom>
          <a:solidFill>
            <a:schemeClr val="accent3"/>
          </a:solidFill>
          <a:ln w="0">
            <a:noFill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7874000" y="1574800"/>
            <a:ext cx="3810000" cy="3556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Capital expenditures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u="none">
                <a:solidFill>
                  <a:schemeClr val="lt1"/>
                </a:solidFill>
                <a:latin typeface="+mj-lt"/>
              </a:rPr>
              <a:t>$28.5B</a:t>
            </a:r>
            <a:endParaRPr sz="4000" b="1" i="0" u="none">
              <a:solidFill>
                <a:schemeClr val="lt1"/>
              </a:solidFill>
              <a:latin typeface="+mj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AI: $23.6B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Connectivity: $2.7B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Space: $2.2B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4368800" y="4826000"/>
            <a:ext cx="2794000" cy="8382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 capital spending rose from $3.3B in the first half of 2025.</a:t>
            </a:r>
            <a:endParaRPr sz="1600" b="0" i="0" u="none">
              <a:solidFill>
                <a:schemeClr val="dk2"/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62AB569E-F561-4D8F-B42D-C35D970142C2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Office Theme">
  <a:themeElements>
    <a:clrScheme name="Office">
      <a:dk1>
        <a:srgbClr val="1B1B1B"/>
      </a:dk1>
      <a:lt1>
        <a:srgbClr val="FFFFFF"/>
      </a:lt1>
      <a:dk2>
        <a:srgbClr val="1F3A5F"/>
      </a:dk2>
      <a:lt2>
        <a:srgbClr val="E9EDF2"/>
      </a:lt2>
      <a:accent1>
        <a:srgbClr val="1F4E79"/>
      </a:accent1>
      <a:accent2>
        <a:srgbClr val="2E86AB"/>
      </a:accent2>
      <a:accent3>
        <a:srgbClr val="F2A541"/>
      </a:accent3>
      <a:accent4>
        <a:srgbClr val="6C757D"/>
      </a:accent4>
      <a:accent5>
        <a:srgbClr val="A23B72"/>
      </a:accent5>
      <a:accent6>
        <a:srgbClr val="3B8F5A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2026-07-21T23:11:46Z</dcterms:created>
  <dcterms:modified xsi:type="dcterms:W3CDTF">2026-07-21T23:11:58Z</dcterms:modified>
</cp:coreProperties>
</file>