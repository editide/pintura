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bin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38e19617fbcf4936"/>
    <p:sldId id="258" r:id="R67da2d37dbd54b1b"/>
    <p:sldId id="259" r:id="R4ba280e16a6d4374"/>
    <p:sldId id="260" r:id="Rc27f2a40102545ce"/>
    <p:sldId id="261" r:id="Rf3e60943ef6e44e7"/>
    <p:sldId id="262" r:id="R72631d05ef1a40a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2F7692-F404-4B14-AFAD-BE1B76A565E0}">
          <p14:sldIdLst>
            <p14:sldId id="257"/>
          </p14:sldIdLst>
        </p14:section>
        <p14:section name="Balance sheet" id="{D03F17A3-A40A-4CE1-9BD8-85781C4755E1}">
          <p14:sldIdLst>
            <p14:sldId id="258"/>
            <p14:sldId id="259"/>
          </p14:sldIdLst>
        </p14:section>
        <p14:section name="Cash flow" id="{C85E1DEB-1F43-40AB-8F2F-A03B18DCFA4D}">
          <p14:sldIdLst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38e19617fbcf4936" /><Relationship Type="http://schemas.openxmlformats.org/officeDocument/2006/relationships/slide" Target="/ppt/slides/slide3.xml" Id="R67da2d37dbd54b1b" /><Relationship Type="http://schemas.openxmlformats.org/officeDocument/2006/relationships/slide" Target="/ppt/slides/slide4.xml" Id="R4ba280e16a6d4374" /><Relationship Type="http://schemas.openxmlformats.org/officeDocument/2006/relationships/slide" Target="/ppt/slides/slide5.xml" Id="Rc27f2a40102545ce" /><Relationship Type="http://schemas.openxmlformats.org/officeDocument/2006/relationships/slide" Target="/ppt/slides/slide6.xml" Id="Rf3e60943ef6e44e7" /><Relationship Type="http://schemas.openxmlformats.org/officeDocument/2006/relationships/slide" Target="/ppt/slides/slide7.xml" Id="R72631d05ef1a40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4ac5e452e4b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38b13f3194a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c4273f9da4760" /></Relationships>
</file>

<file path=ppt/slideLayouts/slideLayout2.xml><?xml version="1.0" encoding="utf-8"?>
<p:sldLayout xmlns:a="http://schemas.openxmlformats.org/drawingml/2006/main" xmlns:p="http://schemas.openxmlformats.org/presentationml/2006/main" preserve="1">
  <p:cSld name="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/>
          </p:cNvSpPr>
          <p:nvPr>
            <p:ph type="title" hasCustomPrompt="1"/>
          </p:nvPr>
        </p:nvSpPr>
        <p:spPr>
          <a:xfrm>
            <a:off x="508000" y="304800"/>
            <a:ext cx="11176000" cy="7112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/>
            </a:lvl1pPr>
          </a:lstStyle>
          <a:p>
            <a:r>
              <a:rPr/>
              <a:t>Title</a:t>
            </a:r>
          </a:p>
        </p:txBody>
      </p:sp>
      <p:sp>
        <p:nvSpPr>
          <p:cNvPr id="3" name="TextBox 3"/>
          <p:cNvSpPr>
            <a:spLocks/>
          </p:cNvSpPr>
          <p:nvPr>
            <p:ph type="sldNum" idx="12"/>
          </p:nvPr>
        </p:nvSpPr>
        <p:spPr>
          <a:xfrm>
            <a:off x="10922000" y="6451600"/>
            <a:ext cx="762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F0FCB394-2755-4E9F-87E1-3B710EE2982A}" type="slidenum">
              <a:rPr lang="en-US"/>
              <a:t>‹#›</a:t>
            </a:fld>
            <a:endParaRPr lang="en-US"/>
          </a:p>
        </p:txBody>
      </p:sp>
      <p:sp>
        <p:nvSpPr>
          <p:cNvPr id="4" name="TextBox 4"/>
          <p:cNvSpPr>
            <a:spLocks/>
          </p:cNvSpPr>
          <p:nvPr/>
        </p:nvSpPr>
        <p:spPr>
          <a:xfrm>
            <a:off x="508000" y="6451600"/>
            <a:ext cx="7620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Acme board update. USD millions unless noted.</a:t>
            </a:r>
            <a:endParaRPr sz="1100" b="0" i="0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</p:cSld>
  <p:clrMapOvr>
    <a:masterClrMapping xmlns:a="http://schemas.openxmlformats.org/drawingml/2006/main"/>
  </p:clrMapOvr>
  <p:hf hdr="0"/>
</p:sldLayout>
</file>

<file path=ppt/slideLayouts/slideLayout3.xml><?xml version="1.0" encoding="utf-8"?>
<p:sldLayout xmlns:a="http://schemas.openxmlformats.org/drawingml/2006/main" xmlns:p="http://schemas.openxmlformats.org/presentationml/2006/main" preserve="1">
  <p:cSld name="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/>
          </p:cNvSpPr>
          <p:nvPr>
            <p:ph type="title" hasCustomPrompt="1"/>
          </p:nvPr>
        </p:nvSpPr>
        <p:spPr>
          <a:xfrm>
            <a:off x="762000" y="2540000"/>
            <a:ext cx="10668000" cy="889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 sz="4000"/>
            </a:lvl1pPr>
          </a:lstStyle>
          <a:p>
            <a:r>
              <a:rPr/>
              <a:t>Title</a:t>
            </a:r>
          </a:p>
        </p:txBody>
      </p:sp>
      <p:sp>
        <p:nvSpPr>
          <p:cNvPr id="3" name="TextBox 3"/>
          <p:cNvSpPr>
            <a:spLocks/>
          </p:cNvSpPr>
          <p:nvPr>
            <p:ph idx="1" hasCustomPrompt="1"/>
          </p:nvPr>
        </p:nvSpPr>
        <p:spPr>
          <a:xfrm>
            <a:off x="762000" y="3556000"/>
            <a:ext cx="10668000" cy="762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>
              <a:buNone/>
              <a:defRPr sz="1800">
                <a:solidFill>
                  <a:schemeClr val="dk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/>
              <a:t>summary</a:t>
            </a:r>
          </a:p>
        </p:txBody>
      </p:sp>
      <p:sp>
        <p:nvSpPr>
          <p:cNvPr id="4" name="TextBox 4"/>
          <p:cNvSpPr>
            <a:spLocks/>
          </p:cNvSpPr>
          <p:nvPr>
            <p:ph type="sldNum" idx="12"/>
          </p:nvPr>
        </p:nvSpPr>
        <p:spPr>
          <a:xfrm>
            <a:off x="10922000" y="6451600"/>
            <a:ext cx="762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A96C89CA-71FE-4323-9263-EC9AFA48F836}" type="slidenum">
              <a:rPr lang="en-US"/>
              <a:t>‹#›</a:t>
            </a:fld>
            <a:endParaRPr lang="en-US"/>
          </a:p>
        </p:txBody>
      </p:sp>
      <p:sp>
        <p:nvSpPr>
          <p:cNvPr id="5" name="TextBox 5"/>
          <p:cNvSpPr>
            <a:spLocks/>
          </p:cNvSpPr>
          <p:nvPr/>
        </p:nvSpPr>
        <p:spPr>
          <a:xfrm>
            <a:off x="508000" y="6451600"/>
            <a:ext cx="76200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Acme board update. USD millions unless noted.</a:t>
            </a:r>
            <a:endParaRPr sz="1100" b="0" i="0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</p:cSld>
  <p:clrMapOvr>
    <a:masterClrMapping xmlns:a="http://schemas.openxmlformats.org/drawingml/2006/main"/>
  </p:clrMapOvr>
  <p:hf hdr="0"/>
</p:sldLayout>
</file>

<file path=ppt/slideLayouts/slideLayout4.xml><?xml version="1.0" encoding="utf-8"?>
<p:sldLayout xmlns:a="http://schemas.openxmlformats.org/drawingml/2006/main" xmlns:p="http://schemas.openxmlformats.org/presentationml/2006/main" preserve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/>
          </p:cNvSpPr>
          <p:nvPr>
            <p:ph type="title" hasCustomPrompt="1"/>
          </p:nvPr>
        </p:nvSpPr>
        <p:spPr>
          <a:xfrm>
            <a:off x="762000" y="2286000"/>
            <a:ext cx="10668000" cy="1143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ctr">
              <a:buNone/>
              <a:defRPr sz="4000"/>
            </a:lvl1pPr>
          </a:lstStyle>
          <a:p>
            <a:r>
              <a:rPr/>
              <a:t>Title</a:t>
            </a:r>
          </a:p>
        </p:txBody>
      </p:sp>
      <p:sp>
        <p:nvSpPr>
          <p:cNvPr id="3" name="TextBox 3"/>
          <p:cNvSpPr>
            <a:spLocks/>
          </p:cNvSpPr>
          <p:nvPr>
            <p:ph idx="1" hasCustomPrompt="1"/>
          </p:nvPr>
        </p:nvSpPr>
        <p:spPr>
          <a:xfrm>
            <a:off x="762000" y="3556000"/>
            <a:ext cx="10668000" cy="508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ctr">
              <a:buNone/>
              <a:defRPr sz="1800">
                <a:solidFill>
                  <a:schemeClr val="dk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/>
              <a:t>subtitle</a:t>
            </a:r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../theme/theme1.xml" Id="rId12" /><Relationship Type="http://schemas.openxmlformats.org/officeDocument/2006/relationships/slideLayout" Target="/ppt/slideLayouts/slideLayout2.xml" Id="Rb077e916b83c4447" /><Relationship Type="http://schemas.openxmlformats.org/officeDocument/2006/relationships/slideLayout" Target="/ppt/slideLayouts/slideLayout3.xml" Id="Rcaa04995bcc74a9f" /><Relationship Type="http://schemas.openxmlformats.org/officeDocument/2006/relationships/slideLayout" Target="/ppt/slideLayouts/slideLayout4.xml" Id="Rc45b1ff5581e46f0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2DC98E-7245-506C-4DA3-0445A9E6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2EE9F-CC31-DF39-A062-B2B15B63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7E38B-7287-F4F9-DAB0-D29023A03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AA507-60AD-4984-B2C6-F019B10A8FA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E9552-342F-9B46-5A56-D78EBE59D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3C071-B40B-CD92-E682-4B644211F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72529-519C-4CBA-8A8F-900AA2683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b077e916b83c4447"/>
    <p:sldLayoutId id="2147483651" r:id="Rcaa04995bcc74a9f"/>
    <p:sldLayoutId id="2147483652" r:id="Rc45b1ff5581e46f0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kern="1200">
          <a:solidFill>
            <a:schemeClr val="dk1"/>
          </a:solidFill>
          <a:latin typeface="+mj-lt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kern="1200">
          <a:solidFill>
            <a:schemeClr val="dk1"/>
          </a:solidFill>
          <a:latin typeface="+mn-lt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/>
        <a:buChar char="•"/>
        <a:defRPr sz="1600" b="0" i="0" u="none" kern="1200">
          <a:solidFill>
            <a:schemeClr val="dk1"/>
          </a:solidFill>
          <a:latin typeface="+mn-lt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Arial" panose="020B0604020202020204" pitchFamily="34" charset="0"/>
        <a:buChar char="–"/>
        <a:defRPr sz="1400" b="0" i="0" u="none" kern="1200">
          <a:solidFill>
            <a:schemeClr val="dk1"/>
          </a:solidFill>
          <a:latin typeface="+mn-lt"/>
        </a:defRPr>
      </a:lvl3pPr>
      <a:lvl4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/>
        <a:buChar char="•"/>
        <a:defRPr sz="1200" b="0" i="0" u="none" kern="1200">
          <a:solidFill>
            <a:schemeClr val="dk1"/>
          </a:solidFill>
          <a:latin typeface="+mn-lt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kern="1200">
          <a:solidFill>
            <a:schemeClr val="dk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8cad78f92bf46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559c48176447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d565a1cea547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e2095db5a146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734567c7a84fa9" /><Relationship Type="http://schemas.openxmlformats.org/officeDocument/2006/relationships/chart" Target="/ppt/slides/charts/chart1.xml" Id="R890218ee71614b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e2684f1904f56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ec02bc9d7ccd45e2" /></Relationships>
</file>

<file path=ppt/slides/charts/chart1.xml><?xml version="1.0" encoding="utf-8"?>
<c:chartSpace xmlns:c="http://schemas.openxmlformats.org/drawingml/2006/chart"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</c:spPr>
          <c:invertIfNegative val="0"/>
          <c:dLbls>
            <c:numFmt formatCode="&quot;$&quot;#,##0.0,&quot;B&quot;;(&quot;$&quot;#,##0.0,&quot;B&quot;)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rot="0" spcFirstLastPara="1" vertOverflow="ellipsis" vert="horz" wrap="square" lIns="38100" tIns="19050" rIns="38100" bIns="19050" anchor="ctr" anchorCtr="1">
                <a:spAutoFit/>
              </a:bodyPr>
              <a:lstStyle xmlns:a="http://schemas.openxmlformats.org/drawingml/2006/main"/>
              <a:p xmlns:a="http://schemas.openxmlformats.org/drawingml/2006/main">
                <a:pPr>
                  <a:defRPr sz="1100" b="0" i="0" u="none" strike="noStrike" kern="1200" baseline="0">
                    <a:solidFill>
                      <a:schemeClr val="dk1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Financing</c:v>
                </c:pt>
                <c:pt idx="1">
                  <c:v>Investing</c:v>
                </c:pt>
                <c:pt idx="2">
                  <c:v>Operating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26350</c:v>
                </c:pt>
                <c:pt idx="1">
                  <c:v>-19575</c:v>
                </c:pt>
                <c:pt idx="2">
                  <c:v>6785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 xmlns:a="http://schemas.openxmlformats.org/drawingml/2006/main">
              <a:schemeClr val="accent1">
                <a:lumMod val="70000"/>
                <a:lumOff val="30000"/>
              </a:schemeClr>
            </a:solidFill>
          </c:spPr>
          <c:invertIfNegative val="0"/>
          <c:dLbls>
            <c:numFmt formatCode="&quot;$&quot;#,##0.0,&quot;B&quot;;(&quot;$&quot;#,##0.0,&quot;B&quot;)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rot="0" spcFirstLastPara="1" vertOverflow="ellipsis" vert="horz" wrap="square" lIns="38100" tIns="19050" rIns="38100" bIns="19050" anchor="ctr" anchorCtr="1">
                <a:spAutoFit/>
              </a:bodyPr>
              <a:lstStyle xmlns:a="http://schemas.openxmlformats.org/drawingml/2006/main"/>
              <a:p xmlns:a="http://schemas.openxmlformats.org/drawingml/2006/main">
                <a:pPr>
                  <a:defRPr sz="1100" b="0" i="0" u="none" strike="noStrike" kern="1200" baseline="0">
                    <a:solidFill>
                      <a:schemeClr val="dk1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Financing</c:v>
                </c:pt>
                <c:pt idx="1">
                  <c:v>Investing</c:v>
                </c:pt>
                <c:pt idx="2">
                  <c:v>Operating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11830</c:v>
                </c:pt>
                <c:pt idx="1">
                  <c:v>-10796</c:v>
                </c:pt>
                <c:pt idx="2">
                  <c:v>5776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2023</c:v>
                </c:pt>
              </c:strCache>
            </c:strRef>
          </c:tx>
          <c:spPr>
            <a:solidFill xmlns:a="http://schemas.openxmlformats.org/drawingml/2006/main">
              <a:schemeClr val="accent1">
                <a:lumMod val="40000"/>
                <a:lumOff val="60000"/>
              </a:schemeClr>
            </a:solidFill>
          </c:spPr>
          <c:invertIfNegative val="0"/>
          <c:dLbls>
            <c:numFmt formatCode="&quot;$&quot;#,##0.0,&quot;B&quot;;(&quot;$&quot;#,##0.0,&quot;B&quot;)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rot="0" spcFirstLastPara="1" vertOverflow="ellipsis" vert="horz" wrap="square" lIns="38100" tIns="19050" rIns="38100" bIns="19050" anchor="ctr" anchorCtr="1">
                <a:spAutoFit/>
              </a:bodyPr>
              <a:lstStyle xmlns:a="http://schemas.openxmlformats.org/drawingml/2006/main"/>
              <a:p xmlns:a="http://schemas.openxmlformats.org/drawingml/2006/main">
                <a:pPr>
                  <a:defRPr sz="1100" b="0" i="0" u="none" strike="noStrike" kern="1200" baseline="0">
                    <a:solidFill>
                      <a:schemeClr val="dk1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Financing</c:v>
                </c:pt>
                <c:pt idx="1">
                  <c:v>Investing</c:v>
                </c:pt>
                <c:pt idx="2">
                  <c:v>Operating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422</c:v>
                </c:pt>
                <c:pt idx="1">
                  <c:v>-4867</c:v>
                </c:pt>
                <c:pt idx="2">
                  <c:v>4520</c:v>
                </c:pt>
              </c:numCache>
            </c:numRef>
          </c:val>
        </c:ser>
        <c:gapWidth val="80"/>
        <c:overlap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 xmlns:a="http://schemas.openxmlformats.org/drawingml/2006/main"/>
          <a:ln xmlns:a="http://schemas.openxmlformats.org/drawingml/2006/main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/>
          <a:p xmlns:a="http://schemas.openxmlformats.org/drawingml/2006/main">
            <a:pPr>
              <a:defRPr sz="1100" b="0">
                <a:solidFill>
                  <a:schemeClr val="dk1"/>
                </a:solidFill>
                <a:latin typeface="+mn-lt"/>
              </a:defRPr>
            </a:pPr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30000"/>
          <c:min val="-25000"/>
        </c:scaling>
        <c:delete val="0"/>
        <c:axPos val="l"/>
        <c:majorGridlines>
          <c:spPr>
            <a:ln xmlns:a="http://schemas.openxmlformats.org/drawingml/2006/main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&quot;$&quot;#,##0.0,&quot;B&quot;;(&quot;$&quot;#,##0.0,&quot;B&quot;)" sourceLinked="0"/>
        <c:majorTickMark val="none"/>
        <c:minorTickMark val="none"/>
        <c:tickLblPos val="nextTo"/>
        <c:spPr>
          <a:noFill xmlns:a="http://schemas.openxmlformats.org/drawingml/2006/main"/>
          <a:ln xmlns:a="http://schemas.openxmlformats.org/drawingml/2006/main">
            <a:noFill/>
          </a:ln>
        </c:spPr>
        <c:txPr>
          <a:bodyPr xmlns:a="http://schemas.openxmlformats.org/drawingml/2006/main"/>
          <a:p xmlns:a="http://schemas.openxmlformats.org/drawingml/2006/main">
            <a:pPr>
              <a:defRPr sz="1100" b="0">
                <a:solidFill>
                  <a:schemeClr val="dk1"/>
                </a:solidFill>
                <a:latin typeface="+mn-lt"/>
              </a:defRPr>
            </a:pPr>
          </a:p>
        </c:txPr>
        <c:crossAx val="111111111"/>
        <c:crosses val="autoZero"/>
        <c:crossBetween val="between"/>
        <c:majorUnit val="5000"/>
      </c:valAx>
    </c:plotArea>
    <c:legend>
      <c:legendPos val="b"/>
      <c:overlay val="0"/>
      <c:txPr>
        <a:bodyPr xmlns:a="http://schemas.openxmlformats.org/drawingml/2006/main"/>
        <a:p xmlns:a="http://schemas.openxmlformats.org/drawingml/2006/main">
          <a:pPr>
            <a:defRPr sz="1100" b="0">
              <a:solidFill>
                <a:schemeClr val="dk1"/>
              </a:solidFill>
              <a:latin typeface="+mn-lt"/>
            </a:defRPr>
          </a:pPr>
        </a:p>
      </c:txPr>
    </c:legend>
    <c:plotVisOnly val="1"/>
    <c:dispBlanksAs val="gap"/>
  </c:chart>
  <c:externalData xmlns:r="http://schemas.openxmlformats.org/officeDocument/2006/relationships" r:id="Rec02bc9d7ccd45e2">
    <c:autoUpdate val="0"/>
  </c:externalData>
</c:chartSpace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ctr">
              <a:buNone/>
              <a:defRPr sz="4000"/>
            </a:lvl1pPr>
          </a:lstStyle>
          <a:p>
            <a:r>
              <a:rPr/>
              <a:t>Acme balance sheet and cash flow</a:t>
            </a:r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ctr">
              <a:buNone/>
              <a:defRPr sz="1800">
                <a:solidFill>
                  <a:schemeClr val="dk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/>
              <a:t>Board update, </a:t>
            </a:r>
            <a:r>
              <a:rPr/>
              <a:t>September 28, 2026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4000"/>
            </a:lvl1pPr>
          </a:lstStyle>
          <a:p>
            <a:r>
              <a:rPr/>
              <a:t>Balance sheet</a:t>
            </a:r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1800">
                <a:solidFill>
                  <a:schemeClr val="dk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/>
              <a:t>December 2024 to June 2026, before and after the IPO</a:t>
            </a:r>
          </a:p>
        </p:txBody>
      </p:sp>
      <p:sp>
        <p:nvSpPr>
          <p:cNvPr id="4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A96C89CA-71FE-4323-9263-EC9AFA48F836}" type="slidenum">
              <a:rPr lang="en-US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>
            <a:r>
              <a:rPr/>
              <a:t>The June 2026 IPO lifted cash to $93.5B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08000" y="1270000"/>
          <a:ext cx="11176000" cy="2743200"/>
        </p:xfrm>
        <a:graphic>
          <a:graphicData uri="http://schemas.openxmlformats.org/drawingml/2006/table">
            <a:tbl>
              <a:tblPr firstRow="1" bandRow="0"/>
              <a:tblGrid>
                <a:gridCol w="5080000"/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December 31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/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June 30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>
                              <a:lumMod val="50000"/>
                              <a:lumOff val="50000"/>
                            </a:schemeClr>
                          </a:solidFill>
                          <a:latin typeface="+mn-lt"/>
                        </a:rPr>
                        <a:t>USD millions</a:t>
                      </a:r>
                      <a:endParaRPr sz="1600" b="0" i="0" u="non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2024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2025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2026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Cash and cash equivalents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11,385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24,747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93,522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Total current assets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16,108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30,952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108,047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T>
                    <a:lnB w="0" cmpd="sng"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Property, plant and equipment, net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21,147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42,602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65,736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Total assets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57,062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92,079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192,770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Total liabilities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254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31,258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254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50,754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254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65,546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25400" cmpd="sng">
                      <a:solidFill>
                        <a:schemeClr val="dk1"/>
                      </a:solidFill>
                    </a:lnT>
                    <a:lnB w="0" cmpd="sng"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Redeemable convertible preferred stock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20,941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38,752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—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solidFill>
                      <a:schemeClr val="lt2">
                        <a:lumMod val="50000"/>
                        <a:lumOff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Total shareholders' equity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4,863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2,573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 u="none">
                          <a:solidFill>
                            <a:schemeClr val="dk1"/>
                          </a:solidFill>
                          <a:latin typeface="+mn-lt"/>
                        </a:rPr>
                        <a:t>127,224</a:t>
                      </a:r>
                      <a:endParaRPr sz="1600" b="0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chemeClr val="dk1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Total liabilities, preferred stock, and equity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57,062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92,079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chemeClr val="dk1"/>
                          </a:solidFill>
                          <a:latin typeface="+mn-lt"/>
                        </a:rPr>
                        <a:t>192,770</a:t>
                      </a:r>
                      <a:endParaRPr sz="1600" b="1" i="0" u="none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solidFill>
                        <a:schemeClr val="dk1"/>
                      </a:solidFill>
                    </a:lnT>
                    <a:lnB w="25400" cmpd="sng">
                      <a:solidFill>
                        <a:schemeClr val="dk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5"/>
          <p:cNvSpPr>
            <a:spLocks/>
          </p:cNvSpPr>
          <p:nvPr/>
        </p:nvSpPr>
        <p:spPr>
          <a:xfrm>
            <a:off x="508000" y="6121400"/>
            <a:ext cx="11176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Source: Acme S-1/A (December 2024 and 2025) and 10-Q (June 30, 2026, unaudited). The IPO converted all preferred stock into common stock.</a:t>
            </a:r>
            <a:endParaRPr sz="900" b="0" i="1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F0FCB394-2755-4E9F-87E1-3B710EE2982A}" type="slidenum">
              <a:rPr lang="en-US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4000"/>
            </a:lvl1pPr>
          </a:lstStyle>
          <a:p>
            <a:r>
              <a:rPr/>
              <a:t>Cash flow</a:t>
            </a:r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1800">
                <a:solidFill>
                  <a:schemeClr val="dk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/>
              <a:t>Fiscal years 2023 to 2025</a:t>
            </a:r>
          </a:p>
        </p:txBody>
      </p:sp>
      <p:sp>
        <p:nvSpPr>
          <p:cNvPr id="4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A96C89CA-71FE-4323-9263-EC9AFA48F836}" type="slidenum">
              <a:rPr lang="en-US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>
            <a:r>
              <a:rPr/>
              <a:t>Capital raising, not operations, funded the capex ramp</a:t>
            </a:r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508000" y="1270000"/>
          <a:ext cx="5461000" cy="4826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890218ee71614bfa"/>
          </a:graphicData>
        </a:graphic>
      </p:graphicFrame>
      <p:sp>
        <p:nvSpPr>
          <p:cNvPr id="5" name="TextBox 5"/>
          <p:cNvSpPr>
            <a:spLocks/>
          </p:cNvSpPr>
          <p:nvPr/>
        </p:nvSpPr>
        <p:spPr>
          <a:xfrm>
            <a:off x="6223000" y="1270000"/>
            <a:ext cx="5461000" cy="4826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 u="none">
                <a:solidFill>
                  <a:schemeClr val="dk1"/>
                </a:solidFill>
                <a:latin typeface="+mn-lt"/>
              </a:rPr>
              <a:t>Net cash by activity, 2023 to 2025</a:t>
            </a:r>
            <a:endParaRPr sz="1800" b="1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Operating cash flow grew from $4.5B to $6.8B</a:t>
            </a:r>
            <a:endParaRPr sz="1600" b="0" i="0" u="none">
              <a:solidFill>
                <a:schemeClr val="dk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Purchases of property, plant and equipment rose from $4.4B to </a:t>
            </a:r>
            <a:r>
              <a:rPr sz="1600" b="1" i="0" u="none">
                <a:solidFill>
                  <a:schemeClr val="accent1"/>
                </a:solidFill>
                <a:latin typeface="+mn-lt"/>
              </a:rPr>
              <a:t>$20.7B</a:t>
            </a:r>
            <a:endParaRPr sz="1600" b="1" i="0" u="none">
              <a:solidFill>
                <a:schemeClr val="accent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2025 financing brought in $26.4B</a:t>
            </a:r>
            <a:endParaRPr sz="1600" b="1" i="0" u="none">
              <a:solidFill>
                <a:schemeClr val="accent1"/>
              </a:solidFill>
              <a:latin typeface="+mn-lt"/>
            </a:endParaRPr>
          </a:p>
          <a:p>
            <a:pPr marL="45720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–"/>
            </a:pPr>
            <a:r>
              <a:rPr sz="1400" b="0" i="0" u="none">
                <a:solidFill>
                  <a:schemeClr val="dk1"/>
                </a:solidFill>
                <a:latin typeface="+mn-lt"/>
              </a:rPr>
              <a:t>$18.8B from issuing capital stock</a:t>
            </a:r>
            <a:endParaRPr sz="1600" b="1" i="0" u="none">
              <a:solidFill>
                <a:schemeClr val="accent1"/>
              </a:solidFill>
              <a:latin typeface="+mn-lt"/>
            </a:endParaRPr>
          </a:p>
          <a:p>
            <a:pPr marL="45720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–"/>
            </a:pPr>
            <a:r>
              <a:rPr sz="1400" b="0" i="0" u="none">
                <a:solidFill>
                  <a:schemeClr val="dk1"/>
                </a:solidFill>
                <a:latin typeface="+mn-lt"/>
              </a:rPr>
              <a:t>$16.1B of new debt, less $6.9B repaid</a:t>
            </a:r>
            <a:endParaRPr sz="1600" b="1" i="0" u="none">
              <a:solidFill>
                <a:schemeClr val="accent1"/>
              </a:solidFill>
              <a:latin typeface="+mn-lt"/>
            </a:endParaRP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Cash and restricted cash ended 2025 at $25.1B</a:t>
            </a:r>
            <a:endParaRPr sz="1600" b="1" i="0" u="none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TextBox 6"/>
          <p:cNvSpPr>
            <a:spLocks/>
          </p:cNvSpPr>
          <p:nvPr/>
        </p:nvSpPr>
        <p:spPr>
          <a:xfrm>
            <a:off x="508000" y="6121400"/>
            <a:ext cx="11176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Source: Acme S-1/A, consolidated statements of cash flows</a:t>
            </a:r>
            <a:endParaRPr sz="900" b="0" i="1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F0FCB394-2755-4E9F-87E1-3B710EE2982A}" type="slidenum">
              <a:rPr lang="en-US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>
            <a:r>
              <a:rPr/>
              <a:t>Financing covered 2025 investing; cash more than doubled</a:t>
            </a:r>
          </a:p>
        </p:txBody>
      </p:sp>
      <p:sp>
        <p:nvSpPr>
          <p:cNvPr id="8" name="TextBox 8"/>
          <p:cNvSpPr>
            <a:spLocks/>
          </p:cNvSpPr>
          <p:nvPr/>
        </p:nvSpPr>
        <p:spPr>
          <a:xfrm>
            <a:off x="508000" y="1778000"/>
            <a:ext cx="3048000" cy="1143000"/>
          </a:xfrm>
          <a:prstGeom prst="roundRect">
            <a:avLst>
              <a:gd name="adj" fmla="val 8889"/>
            </a:avLst>
          </a:prstGeom>
          <a:solidFill>
            <a:schemeClr val="accent6">
              <a:lumMod val="40000"/>
              <a:lumOff val="60000"/>
            </a:schemeClr>
          </a:solidFill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chemeClr val="dk1"/>
                </a:solidFill>
                <a:latin typeface="+mn-lt"/>
              </a:rPr>
              <a:t>Operating</a:t>
            </a:r>
            <a:endParaRPr sz="1600" b="1" i="0" u="none">
              <a:solidFill>
                <a:schemeClr val="dk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$6.8B</a:t>
            </a:r>
            <a:endParaRPr sz="1600" b="0" i="0" u="none">
              <a:solidFill>
                <a:schemeClr val="dk1"/>
              </a:solidFill>
              <a:latin typeface="+mn-lt"/>
            </a:endParaRPr>
          </a:p>
        </p:txBody>
      </p:sp>
      <p:sp>
        <p:nvSpPr>
          <p:cNvPr id="9" name="TextBox 9"/>
          <p:cNvSpPr>
            <a:spLocks/>
          </p:cNvSpPr>
          <p:nvPr/>
        </p:nvSpPr>
        <p:spPr>
          <a:xfrm>
            <a:off x="508000" y="3683000"/>
            <a:ext cx="3048000" cy="1143000"/>
          </a:xfrm>
          <a:prstGeom prst="roundRect">
            <a:avLst>
              <a:gd name="adj" fmla="val 8889"/>
            </a:avLst>
          </a:prstGeom>
          <a:solidFill>
            <a:schemeClr val="accent6">
              <a:lumMod val="40000"/>
              <a:lumOff val="60000"/>
            </a:schemeClr>
          </a:solidFill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chemeClr val="dk1"/>
                </a:solidFill>
                <a:latin typeface="+mn-lt"/>
              </a:rPr>
              <a:t>Financing</a:t>
            </a:r>
            <a:endParaRPr sz="1600" b="1" i="0" u="none">
              <a:solidFill>
                <a:schemeClr val="dk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$26.4B</a:t>
            </a:r>
            <a:endParaRPr sz="1600" b="0" i="0" u="none">
              <a:solidFill>
                <a:schemeClr val="dk1"/>
              </a:solidFill>
              <a:latin typeface="+mn-lt"/>
            </a:endParaRPr>
          </a:p>
        </p:txBody>
      </p:sp>
      <p:sp>
        <p:nvSpPr>
          <p:cNvPr id="10" name="TextBox 10"/>
          <p:cNvSpPr>
            <a:spLocks/>
          </p:cNvSpPr>
          <p:nvPr/>
        </p:nvSpPr>
        <p:spPr>
          <a:xfrm>
            <a:off x="4826000" y="2730500"/>
            <a:ext cx="2032000" cy="11430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chemeClr val="lt1"/>
                </a:solidFill>
                <a:latin typeface="+mn-lt"/>
              </a:rPr>
              <a:t>2025</a:t>
            </a:r>
            <a:endParaRPr sz="1600" b="1" i="0" u="none"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TextBox 11"/>
          <p:cNvSpPr>
            <a:spLocks/>
          </p:cNvSpPr>
          <p:nvPr/>
        </p:nvSpPr>
        <p:spPr>
          <a:xfrm>
            <a:off x="8128000" y="1778000"/>
            <a:ext cx="3556000" cy="1143000"/>
          </a:xfrm>
          <a:prstGeom prst="roundRect">
            <a:avLst>
              <a:gd name="adj" fmla="val 8889"/>
            </a:avLst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chemeClr val="dk1"/>
                </a:solidFill>
                <a:latin typeface="+mn-lt"/>
              </a:rPr>
              <a:t>Investing</a:t>
            </a:r>
            <a:endParaRPr sz="1600" b="1" i="0" u="none">
              <a:solidFill>
                <a:schemeClr val="dk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dk1"/>
                </a:solidFill>
                <a:latin typeface="+mn-lt"/>
              </a:rPr>
              <a:t>($19.6B)</a:t>
            </a:r>
            <a:endParaRPr sz="1600" b="0" i="0" u="none">
              <a:solidFill>
                <a:schemeClr val="dk1"/>
              </a:solidFill>
              <a:latin typeface="+mn-lt"/>
            </a:endParaRPr>
          </a:p>
        </p:txBody>
      </p:sp>
      <p:sp>
        <p:nvSpPr>
          <p:cNvPr id="12" name="TextBox 12"/>
          <p:cNvSpPr>
            <a:spLocks/>
          </p:cNvSpPr>
          <p:nvPr/>
        </p:nvSpPr>
        <p:spPr>
          <a:xfrm>
            <a:off x="8128000" y="3683000"/>
            <a:ext cx="3556000" cy="114300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chemeClr val="lt1"/>
                </a:solidFill>
                <a:latin typeface="+mn-lt"/>
              </a:rPr>
              <a:t>Net change in cash</a:t>
            </a:r>
            <a:endParaRPr sz="1600" b="1" i="0" u="none">
              <a:solidFill>
                <a:schemeClr val="lt1"/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chemeClr val="lt1"/>
                </a:solidFill>
                <a:latin typeface="+mn-lt"/>
              </a:rPr>
              <a:t>$13.6B</a:t>
            </a:r>
            <a:endParaRPr sz="1600" b="0" i="0" u="none">
              <a:solidFill>
                <a:schemeClr val="lt1"/>
              </a:solidFill>
              <a:latin typeface="+mn-lt"/>
            </a:endParaRPr>
          </a:p>
        </p:txBody>
      </p:sp>
      <p:sp>
        <p:nvSpPr>
          <p:cNvPr id="4" name="Shape 4"/>
          <p:cNvSpPr>
            <a:spLocks/>
          </p:cNvSpPr>
          <p:nvPr/>
        </p:nvSpPr>
        <p:spPr>
          <a:xfrm>
            <a:off x="3556000" y="2349500"/>
            <a:ext cx="1270000" cy="825500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tailEnd type="triangle"/>
          </a:ln>
        </p:spPr>
      </p:sp>
      <p:sp>
        <p:nvSpPr>
          <p:cNvPr id="5" name="Shape 5"/>
          <p:cNvSpPr>
            <a:spLocks/>
          </p:cNvSpPr>
          <p:nvPr/>
        </p:nvSpPr>
        <p:spPr>
          <a:xfrm flipV="1">
            <a:off x="3556000" y="3429000"/>
            <a:ext cx="1270000" cy="825500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tailEnd type="triangle"/>
          </a:ln>
        </p:spPr>
      </p:sp>
      <p:sp>
        <p:nvSpPr>
          <p:cNvPr id="6" name="Shape 6"/>
          <p:cNvSpPr>
            <a:spLocks/>
          </p:cNvSpPr>
          <p:nvPr/>
        </p:nvSpPr>
        <p:spPr>
          <a:xfrm flipV="1">
            <a:off x="6858000" y="2349500"/>
            <a:ext cx="1270000" cy="825500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headEnd type="oval"/>
            <a:tailEnd type="triangle"/>
          </a:ln>
        </p:spPr>
      </p:sp>
      <p:sp>
        <p:nvSpPr>
          <p:cNvPr id="7" name="Shape 7"/>
          <p:cNvSpPr>
            <a:spLocks/>
          </p:cNvSpPr>
          <p:nvPr/>
        </p:nvSpPr>
        <p:spPr>
          <a:xfrm>
            <a:off x="6858000" y="3429000"/>
            <a:ext cx="1270000" cy="825500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headEnd type="oval"/>
            <a:tailEnd type="triangle"/>
          </a:ln>
        </p:spPr>
      </p:sp>
      <p:sp>
        <p:nvSpPr>
          <p:cNvPr id="13" name="TextBox 13"/>
          <p:cNvSpPr>
            <a:spLocks/>
          </p:cNvSpPr>
          <p:nvPr/>
        </p:nvSpPr>
        <p:spPr>
          <a:xfrm>
            <a:off x="3810000" y="1270000"/>
            <a:ext cx="3302000" cy="635000"/>
          </a:xfrm>
          <a:prstGeom prst="wedgeRectCallout">
            <a:avLst/>
          </a:prstGeom>
          <a:solidFill>
            <a:schemeClr val="lt1"/>
          </a:solidFill>
          <a:ln w="19050">
            <a:solidFill>
              <a:schemeClr val="accent2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chemeClr val="dk1"/>
                </a:solidFill>
                <a:latin typeface="+mn-lt"/>
              </a:rPr>
              <a:t>Purchases of PP&amp;E alone were $20.7B</a:t>
            </a:r>
            <a:endParaRPr sz="1400" b="0" i="0" u="none">
              <a:solidFill>
                <a:schemeClr val="dk1"/>
              </a:solidFill>
              <a:latin typeface="+mn-lt"/>
            </a:endParaRPr>
          </a:p>
        </p:txBody>
      </p:sp>
      <p:sp>
        <p:nvSpPr>
          <p:cNvPr id="14" name="TextBox 14"/>
          <p:cNvSpPr>
            <a:spLocks/>
          </p:cNvSpPr>
          <p:nvPr/>
        </p:nvSpPr>
        <p:spPr>
          <a:xfrm>
            <a:off x="8128000" y="4953000"/>
            <a:ext cx="3556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Net change includes a $63M exchange-rate effect.</a:t>
            </a:r>
            <a:endParaRPr sz="1100" b="0" i="0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5" name="TextBox 15"/>
          <p:cNvSpPr>
            <a:spLocks/>
          </p:cNvSpPr>
          <p:nvPr/>
        </p:nvSpPr>
        <p:spPr>
          <a:xfrm>
            <a:off x="508000" y="6121400"/>
            <a:ext cx="11176000" cy="254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rPr>
              <a:t>Source: Acme S-1/A, consolidated statements of cash flows</a:t>
            </a:r>
            <a:endParaRPr sz="900" b="0" i="1" u="none">
              <a:solidFill>
                <a:schemeClr val="dk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Slide Number"/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 u="none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 xmlns:a="http://schemas.openxmlformats.org/drawingml/2006/main">
            <a:fld id="{F0FCB394-2755-4E9F-87E1-3B710EE2982A}" type="slidenum">
              <a:rPr lang="en-US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thm15="http://schemas.microsoft.com/office/thememl/2012/main" xmlns:a="http://schemas.openxmlformats.org/drawingml/2006/main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Balance Sheet and Cash Flow</dc:title>
  <dcterms:created xsi:type="dcterms:W3CDTF">2026-10-21T21:41:35Z</dcterms:created>
  <dcterms:modified xsi:type="dcterms:W3CDTF">2026-10-21T21:41:35Z</dcterms:modified>
</cp:coreProperties>
</file>