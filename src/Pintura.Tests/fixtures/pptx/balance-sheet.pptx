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9325e42071894e00"/>
    <p:sldId id="258" r:id="R759280891ced4572"/>
    <p:sldId id="259" r:id="R38368f9b28614984"/>
    <p:sldId id="260" r:id="Rb6e84d0f11ec4fb2"/>
    <p:sldId id="261" r:id="R04731a6c57d34af7"/>
    <p:sldId id="262" r:id="Rcec0657e8d704e8d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58864BC-B59B-40E6-8A71-ACAB8D2C9564}">
          <p14:sldIdLst>
            <p14:sldId id="257"/>
          </p14:sldIdLst>
        </p14:section>
        <p14:section name="Balance sheet" id="{D7A8B7A2-640C-4176-835C-10EE348B993A}">
          <p14:sldIdLst>
            <p14:sldId id="258"/>
            <p14:sldId id="259"/>
          </p14:sldIdLst>
        </p14:section>
        <p14:section name="Cash flow" id="{65E19E8A-5253-49D9-9DFD-89804687AB54}">
          <p14:sldIdLst>
            <p14:sldId id="260"/>
            <p14:sldId id="261"/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9325e42071894e00" /><Relationship Type="http://schemas.openxmlformats.org/officeDocument/2006/relationships/slide" Target="/ppt/slides/slide3.xml" Id="R759280891ced4572" /><Relationship Type="http://schemas.openxmlformats.org/officeDocument/2006/relationships/slide" Target="/ppt/slides/slide4.xml" Id="R38368f9b28614984" /><Relationship Type="http://schemas.openxmlformats.org/officeDocument/2006/relationships/slide" Target="/ppt/slides/slide5.xml" Id="Rb6e84d0f11ec4fb2" /><Relationship Type="http://schemas.openxmlformats.org/officeDocument/2006/relationships/slide" Target="/ppt/slides/slide6.xml" Id="R04731a6c57d34af7" /><Relationship Type="http://schemas.openxmlformats.org/officeDocument/2006/relationships/slide" Target="/ppt/slides/slide7.xml" Id="Rcec0657e8d704e8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0a80cce86a4df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cb1060ba4e4b7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e4512381f04792" /></Relationships>
</file>

<file path=ppt/slideLayouts/slideLayout2.xml><?xml version="1.0" encoding="utf-8"?>
<p:sldLayout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508000" y="304800"/>
            <a:ext cx="11176000" cy="7112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946F43AB-3C5D-4C1C-9B2D-20E8F6DF88E3}" type="slidenum">
              <a:rPr lang="en-US"/>
              <a:t>‹#›</a:t>
            </a:fld>
            <a:endParaRPr lang="en-US"/>
          </a:p>
        </p:txBody>
      </p:sp>
      <p:sp>
        <p:nvSpPr>
          <p:cNvPr id="4" name="TextBox 4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a="http://schemas.openxmlformats.org/drawingml/2006/main" xmlns:p="http://schemas.openxmlformats.org/presentationml/2006/main" preserve="1">
  <p:cSld name="Sec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1066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762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4" name="TextBox 4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33E8EA01-BBF9-4B70-B395-D5EC6A8E80F7}" type="slidenum">
              <a:rPr lang="en-US"/>
              <a:t>‹#›</a:t>
            </a:fld>
            <a:endParaRPr lang="en-US"/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Acme board update. USD millions unless noted.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a="http://schemas.openxmlformats.org/drawingml/2006/main" xmlns:p="http://schemas.openxmlformats.org/presentationml/2006/main" preserve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2"/>
          <p:cNvSpPr>
            <a:spLocks/>
          </p:cNvSpPr>
          <p:nvPr>
            <p:ph type="title" hasCustomPrompt="1"/>
          </p:nvPr>
        </p:nvSpPr>
        <p:spPr>
          <a:xfrm>
            <a:off x="762000" y="2286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4000"/>
            </a:lvl1pPr>
          </a:lstStyle>
          <a:p>
            <a:r>
              <a:rPr/>
              <a:t>Title</a:t>
            </a:r>
          </a:p>
        </p:txBody>
      </p:sp>
      <p:sp>
        <p:nvSpPr>
          <p:cNvPr id="3" name="TextBox 3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subtitle</a:t>
            </a:r>
          </a:p>
        </p:txBody>
      </p:sp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10c370d116f340d8" /><Relationship Type="http://schemas.openxmlformats.org/officeDocument/2006/relationships/slideLayout" Target="/ppt/slideLayouts/slideLayout3.xml" Id="Rfe544a7357cb42da" /><Relationship Type="http://schemas.openxmlformats.org/officeDocument/2006/relationships/slideLayout" Target="/ppt/slideLayouts/slideLayout4.xml" Id="R42aaeef913e149b5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Defaul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10c370d116f340d8"/>
    <p:sldLayoutId id="2147483651" r:id="Rfe544a7357cb42da"/>
    <p:sldLayoutId id="2147483652" r:id="R42aaeef913e149b5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1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/>
        <a:buChar char="•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6229944882c4f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4e7693939f47b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eaac65cb8e45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3df946985eb41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1493c015cc4093" /><Relationship Type="http://schemas.openxmlformats.org/officeDocument/2006/relationships/chart" Target="/ppt/slides/charts/chart1.xml" Id="R2d92146398fe43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3a5a06d0f404524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f17382fc88164717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26350</c:v>
                </c:pt>
                <c:pt idx="1">
                  <c:v>-19575</c:v>
                </c:pt>
                <c:pt idx="2">
                  <c:v>6785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 xmlns:a="http://schemas.openxmlformats.org/drawingml/2006/main">
              <a:schemeClr val="accent1">
                <a:lumMod val="70000"/>
                <a:lumOff val="3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11830</c:v>
                </c:pt>
                <c:pt idx="1">
                  <c:v>-10796</c:v>
                </c:pt>
                <c:pt idx="2">
                  <c:v>5776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2023</c:v>
                </c:pt>
              </c:strCache>
            </c:strRef>
          </c:tx>
          <c:spPr>
            <a:solidFill xmlns:a="http://schemas.openxmlformats.org/drawingml/2006/main">
              <a:schemeClr val="accent1">
                <a:lumMod val="40000"/>
                <a:lumOff val="6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100" b="0" i="0" u="none" strike="noStrike" kern="1200" baseline="0">
                    <a:solidFill>
                      <a:schemeClr val="dk1"/>
                    </a:solidFill>
                    <a:latin typeface="+mn-lt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Financing</c:v>
                </c:pt>
                <c:pt idx="1">
                  <c:v>Investing</c:v>
                </c:pt>
                <c:pt idx="2">
                  <c:v>Operating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422</c:v>
                </c:pt>
                <c:pt idx="1">
                  <c:v>-4867</c:v>
                </c:pt>
                <c:pt idx="2">
                  <c:v>4520</c:v>
                </c:pt>
              </c:numCache>
            </c:numRef>
          </c:val>
        </c:ser>
        <c:gapWidth val="80"/>
        <c:overlap val="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0000"/>
          <c:min val="-30000"/>
        </c:scaling>
        <c:delete val="0"/>
        <c:axPos val="l"/>
        <c:majorGridlines>
          <c:spPr>
            <a:ln xmlns:a="http://schemas.openxmlformats.org/drawingml/2006/main">
              <a:solidFill>
                <a:schemeClr val="tx1">
                  <a:lumMod val="15000"/>
                  <a:lumOff val="85000"/>
                </a:schemeClr>
              </a:solidFill>
            </a:ln>
          </c:spPr>
        </c:majorGridlines>
        <c:numFmt formatCode="&quot;$&quot;#,##0.0,&quot;B&quot;;(&quot;$&quot;#,##0.0,&quot;B&quot;)" sourceLinked="0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100" b="0">
                <a:solidFill>
                  <a:schemeClr val="dk1"/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10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100" b="0">
              <a:solidFill>
                <a:schemeClr val="dk1"/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f17382fc88164717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4000"/>
            </a:lvl1pPr>
          </a:lstStyle>
          <a:p>
            <a:r>
              <a:rPr/>
              <a:t>Acme balance sheet and cash flow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ctr"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Board update, </a:t>
            </a:r>
            <a:r>
              <a:rPr/>
              <a:t>September 28,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Balance sheet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December 2024 to June 2026, before and after the IPO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33E8EA01-BBF9-4B70-B395-D5EC6A8E80F7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The June 2026 IPO lifted cash to $93.5B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5080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December 31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June 30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>
                              <a:lumMod val="50000"/>
                              <a:lumOff val="50000"/>
                            </a:schemeClr>
                          </a:solidFill>
                          <a:latin typeface="+mn-lt"/>
                        </a:rPr>
                        <a:t>USD millions</a:t>
                      </a:r>
                      <a:endParaRPr sz="1600" b="0" i="0" u="none">
                        <a:solidFill>
                          <a:schemeClr val="dk1">
                            <a:lumMod val="50000"/>
                            <a:lumOff val="50000"/>
                          </a:schemeClr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2024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Cash and cash equivalents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11,385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24,747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93,522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current assets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16,108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30,952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108,047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9525" cmpd="sng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Property, plant and equipment, net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21,147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42,602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65,736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assets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57,062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92,079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192,770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Total liabilities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31,258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50,754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65,546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Redeemable convertible preferred stock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20,941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38,752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—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solidFill>
                      <a:schemeClr val="lt2">
                        <a:lumMod val="50000"/>
                        <a:lumOff val="5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Total shareholders' equity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4,863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2,573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127,224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 liabilities, preferred stock, and equity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57,062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92,079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192,770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(December 2024 and 2025) and 10-Q (June 30, 2026, unaudited). The IPO converted all preferred stock into common stock.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946F43AB-3C5D-4C1C-9B2D-20E8F6DF88E3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/>
            </a:lvl1pPr>
          </a:lstStyle>
          <a:p>
            <a:r>
              <a:rPr/>
              <a:t>Cash flow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dk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/>
              <a:t>Fiscal years 2023 to 2025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33E8EA01-BBF9-4B70-B395-D5EC6A8E80F7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raising, not operations, funded the capex ramp</a:t>
            </a: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2d92146398fe436e"/>
          </a:graphicData>
        </a:graphic>
      </p:graphicFrame>
      <p:sp>
        <p:nvSpPr>
          <p:cNvPr id="5" name="TextBox 5"/>
          <p:cNvSpPr>
            <a:spLocks/>
          </p:cNvSpPr>
          <p:nvPr/>
        </p:nvSpPr>
        <p:spPr>
          <a:xfrm>
            <a:off x="6223000" y="1270000"/>
            <a:ext cx="5461000" cy="482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1"/>
                </a:solidFill>
                <a:latin typeface="+mn-lt"/>
              </a:rPr>
              <a:t>Net cash by activity, 2023 to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Operating cash flow grew from $4.5B to $6.8B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Purchases of property, plant and equipment rose from $4.4B to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$20.7B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2025 financing brought in $26.4B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$18.8B from issuing capital stock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$16.1B of new debt, less $6.9B repaid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Cash and restricted cash ended 2025 at $25.1B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cash flows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946F43AB-3C5D-4C1C-9B2D-20E8F6DF88E3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Financing covered 2025 investing; cash more than doubled</a:t>
            </a: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778000"/>
            <a:ext cx="3048000" cy="1143000"/>
          </a:xfrm>
          <a:prstGeom prst="roundRect">
            <a:avLst>
              <a:gd name="adj" fmla="val 8889"/>
            </a:avLst>
          </a:prstGeom>
          <a:solidFill>
            <a:schemeClr val="accent6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Operating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$6.8B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3683000"/>
            <a:ext cx="3048000" cy="1143000"/>
          </a:xfrm>
          <a:prstGeom prst="roundRect">
            <a:avLst>
              <a:gd name="adj" fmla="val 8889"/>
            </a:avLst>
          </a:prstGeom>
          <a:solidFill>
            <a:schemeClr val="accent6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Financing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$26.4B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4826000" y="2730500"/>
            <a:ext cx="2032000" cy="1143000"/>
          </a:xfrm>
          <a:prstGeom prst="ellipse">
            <a:avLst/>
          </a:prstGeom>
          <a:solidFill>
            <a:schemeClr val="dk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2025</a:t>
            </a:r>
            <a:endParaRPr sz="1600" b="1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8128000" y="1778000"/>
            <a:ext cx="3556000" cy="1143000"/>
          </a:xfrm>
          <a:prstGeom prst="roundRect">
            <a:avLst>
              <a:gd name="adj" fmla="val 8889"/>
            </a:avLst>
          </a:prstGeom>
          <a:solidFill>
            <a:schemeClr val="accent2">
              <a:lumMod val="40000"/>
              <a:lumOff val="60000"/>
            </a:schemeClr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dk1"/>
                </a:solidFill>
                <a:latin typeface="+mn-lt"/>
              </a:rPr>
              <a:t>Investing</a:t>
            </a:r>
            <a:endParaRPr sz="1600" b="1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($19.6B)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2" name="TextBox 12"/>
          <p:cNvSpPr>
            <a:spLocks/>
          </p:cNvSpPr>
          <p:nvPr/>
        </p:nvSpPr>
        <p:spPr>
          <a:xfrm>
            <a:off x="8128000" y="3683000"/>
            <a:ext cx="3556000" cy="114300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 i="0" u="none">
                <a:solidFill>
                  <a:schemeClr val="lt1"/>
                </a:solidFill>
                <a:latin typeface="+mn-lt"/>
              </a:rPr>
              <a:t>Net change in cash</a:t>
            </a:r>
            <a:endParaRPr sz="1600" b="1" i="0" u="none">
              <a:solidFill>
                <a:schemeClr val="lt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$13.6B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556000" y="23495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5" name="Shape 5"/>
          <p:cNvSpPr>
            <a:spLocks/>
          </p:cNvSpPr>
          <p:nvPr/>
        </p:nvSpPr>
        <p:spPr>
          <a:xfrm flipV="1">
            <a:off x="3556000" y="34290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6" name="Shape 6"/>
          <p:cNvSpPr>
            <a:spLocks/>
          </p:cNvSpPr>
          <p:nvPr/>
        </p:nvSpPr>
        <p:spPr>
          <a:xfrm flipV="1">
            <a:off x="6858000" y="23495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7" name="Shape 7"/>
          <p:cNvSpPr>
            <a:spLocks/>
          </p:cNvSpPr>
          <p:nvPr/>
        </p:nvSpPr>
        <p:spPr>
          <a:xfrm>
            <a:off x="6858000" y="3429000"/>
            <a:ext cx="1270000" cy="82550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headEnd type="oval"/>
            <a:tailEnd type="triangle"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3810000" y="1270000"/>
            <a:ext cx="3302000" cy="6350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2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Purchases of PP&amp;E alone were $20.7B</a:t>
            </a:r>
            <a:endParaRPr sz="14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8128000" y="4953000"/>
            <a:ext cx="355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Net change includes a $63M exchange-rate effect.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11176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S-1/A, consolidated statements of cash flows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946F43AB-3C5D-4C1C-9B2D-20E8F6DF88E3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Default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Balance Sheet and Cash Flow</dc:title>
  <dcterms:created xsi:type="dcterms:W3CDTF">2026-10-28T19:57:38Z</dcterms:created>
  <dcterms:modified xsi:type="dcterms:W3CDTF">2026-10-28T19:57:38Z</dcterms:modified>
</cp:coreProperties>
</file>