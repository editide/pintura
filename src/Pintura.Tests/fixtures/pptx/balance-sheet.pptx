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38e19617fbcf4936"/>
    <p:sldId id="258" r:id="R67da2d37dbd54b1b"/>
    <p:sldId id="259" r:id="R4ba280e16a6d4374"/>
    <p:sldId id="260" r:id="Rc27f2a40102545ce"/>
    <p:sldId id="261" r:id="Rf3e60943ef6e44e7"/>
    <p:sldId id="262" r:id="R72631d05ef1a40a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72F7692-F404-4B14-AFAD-BE1B76A565E0}">
          <p14:sldIdLst>
            <p14:sldId id="257"/>
          </p14:sldIdLst>
        </p14:section>
        <p14:section name="Balance sheet" id="{D03F17A3-A40A-4CE1-9BD8-85781C4755E1}">
          <p14:sldIdLst>
            <p14:sldId id="258"/>
            <p14:sldId id="259"/>
          </p14:sldIdLst>
        </p14:section>
        <p14:section name="Cash flow" id="{C85E1DEB-1F43-40AB-8F2F-A03B18DCFA4D}">
          <p14:sldIdLst>
            <p14:sldId id="260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38e19617fbcf4936" /><Relationship Type="http://schemas.openxmlformats.org/officeDocument/2006/relationships/slide" Target="/ppt/slides/slide3.xml" Id="R67da2d37dbd54b1b" /><Relationship Type="http://schemas.openxmlformats.org/officeDocument/2006/relationships/slide" Target="/ppt/slides/slide4.xml" Id="R4ba280e16a6d4374" /><Relationship Type="http://schemas.openxmlformats.org/officeDocument/2006/relationships/slide" Target="/ppt/slides/slide5.xml" Id="Rc27f2a40102545ce" /><Relationship Type="http://schemas.openxmlformats.org/officeDocument/2006/relationships/slide" Target="/ppt/slides/slide6.xml" Id="Rf3e60943ef6e44e7" /><Relationship Type="http://schemas.openxmlformats.org/officeDocument/2006/relationships/slide" Target="/ppt/slides/slide7.xml" Id="R72631d05ef1a40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b4ac5e452e4b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38b13f3194a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c4273f9da4760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F0FCB394-2755-4E9F-87E1-3B710EE2982A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A96C89CA-71FE-4323-9263-EC9AFA48F836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b077e916b83c4447" /><Relationship Type="http://schemas.openxmlformats.org/officeDocument/2006/relationships/slideLayout" Target="/ppt/slideLayouts/slideLayout3.xml" Id="Rcaa04995bcc74a9f" /><Relationship Type="http://schemas.openxmlformats.org/officeDocument/2006/relationships/slideLayout" Target="/ppt/slideLayouts/slideLayout4.xml" Id="Rc45b1ff5581e46f0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b077e916b83c4447"/>
    <p:sldLayoutId id="2147483651" r:id="Rcaa04995bcc74a9f"/>
    <p:sldLayoutId id="2147483652" r:id="Rc45b1ff5581e46f0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8cad78f92bf46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559c48176447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d565a1cea547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e2095db5a146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734567c7a84fa9" /><Relationship Type="http://schemas.openxmlformats.org/officeDocument/2006/relationships/chart" Target="/ppt/slides/charts/chart1.xml" Id="R890218ee71614b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6e2684f1904f56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ec02bc9d7ccd45e2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26350</c:v>
                </c:pt>
                <c:pt idx="1">
                  <c:v>-19575</c:v>
                </c:pt>
                <c:pt idx="2">
                  <c:v>6785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70000"/>
                <a:lumOff val="3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11830</c:v>
                </c:pt>
                <c:pt idx="1">
                  <c:v>-10796</c:v>
                </c:pt>
                <c:pt idx="2">
                  <c:v>5776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2023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40000"/>
                <a:lumOff val="6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422</c:v>
                </c:pt>
                <c:pt idx="1">
                  <c:v>-4867</c:v>
                </c:pt>
                <c:pt idx="2">
                  <c:v>4520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30000"/>
          <c:min val="-25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5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ec02bc9d7ccd45e2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balance sheet and 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Balance sheet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December 2024 to June 2026, before and after the IPO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96C89CA-71FE-4323-9263-EC9AFA48F836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The June 2026 IPO lifted cash to $93.5B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December 31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June 30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>
                              <a:lumMod val="50000"/>
                              <a:lumOff val="50000"/>
                            </a:schemeClr>
                          </a:solidFill>
                          <a:latin typeface="+mn-lt"/>
                        </a:rPr>
                        <a:t>USD millions</a:t>
                      </a:r>
                      <a:endParaRPr sz="1600" b="0" i="0" u="none">
                        <a:solidFill>
                          <a:schemeClr val="dk1">
                            <a:lumMod val="50000"/>
                            <a:lumOff val="50000"/>
                          </a:schemeClr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Cash and cash equivalents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11,385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24,747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93,522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current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16,108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30,952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108,047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Property, plant and equipment, net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21,147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42,602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65,736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31,258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50,754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65,546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Redeemable convertible preferred stock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20,941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38,752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—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shareholders' equity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4,863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2,573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127,224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liabilities, preferred stock, and equity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(December 2024 and 2025) and 10-Q (June 30, 2026, unaudited). The IPO converted all preferred stock into common stock.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F0FCB394-2755-4E9F-87E1-3B710EE2982A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96C89CA-71FE-4323-9263-EC9AFA48F836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raising, not operations, funded the capex ramp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890218ee71614bfa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Net cash by activity, 2023 to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cash flow grew from $4.5B to 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Purchases of property, plant and equipment rose from $4.4B to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$20.7B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2025 financing brought in $26.4B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$18.8B from issuing capital stock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$16.1B of new debt, less $6.9B repaid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Cash and restricted cash ended 2025 at $25.1B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F0FCB394-2755-4E9F-87E1-3B710EE2982A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Financing covered 2025 investing; cash more than doubled</a:t>
            </a: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778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3683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Financing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$26.4B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4826000" y="2730500"/>
            <a:ext cx="2032000" cy="114300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2025</a:t>
            </a:r>
            <a:endParaRPr sz="1600" b="1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8128000" y="1778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2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Investing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($19.6B)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2" name="TextBox 12"/>
          <p:cNvSpPr>
            <a:spLocks/>
          </p:cNvSpPr>
          <p:nvPr/>
        </p:nvSpPr>
        <p:spPr>
          <a:xfrm>
            <a:off x="8128000" y="3683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Net change in cash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$13.6B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556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 flipV="1">
            <a:off x="3556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6858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7" name="Shape 7"/>
          <p:cNvSpPr>
            <a:spLocks/>
          </p:cNvSpPr>
          <p:nvPr/>
        </p:nvSpPr>
        <p:spPr>
          <a:xfrm>
            <a:off x="6858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3810000" y="1270000"/>
            <a:ext cx="3302000" cy="6350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2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Purchases of PP&amp;E alone were $20.7B</a:t>
            </a:r>
            <a:endParaRPr sz="14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8128000" y="4953000"/>
            <a:ext cx="355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Net change includes a $63M exchange-rate effect.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F0FCB394-2755-4E9F-87E1-3B710EE2982A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Default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Balance Sheet and Cash Flow</dc:title>
  <dcterms:created xsi:type="dcterms:W3CDTF">2026-10-21T21:41:35Z</dcterms:created>
  <dcterms:modified xsi:type="dcterms:W3CDTF">2026-10-21T21:41:35Z</dcterms:modified>
</cp:coreProperties>
</file>