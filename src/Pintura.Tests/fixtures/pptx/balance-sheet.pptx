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bin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2" Type="http://schemas.openxmlformats.org/officeDocument/2006/relationships/officeDocument" Target="ppt/presentation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5b6087019bc047c4"/>
    <p:sldId id="258" r:id="Rf248ca5435274d97"/>
    <p:sldId id="259" r:id="Rce7d6aa5191c4a01"/>
    <p:sldId id="260" r:id="Rcf5ffe7a4c8047e4"/>
    <p:sldId id="261" r:id="R183769ed0a034665"/>
    <p:sldId id="262" r:id="R2ac068e48e67404d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presProps" Target="presProps.xml" Id="rId3" /><Relationship Type="http://schemas.openxmlformats.org/officeDocument/2006/relationships/slideMaster" Target="slideMasters/slideMaster1.xml" Id="rId1" /><Relationship Type="http://schemas.openxmlformats.org/officeDocument/2006/relationships/tableStyles" Target="tableStyles.xml" Id="rId6" /><Relationship Type="http://schemas.openxmlformats.org/officeDocument/2006/relationships/theme" Target="theme/theme1.xml" Id="rId5" /><Relationship Type="http://schemas.openxmlformats.org/officeDocument/2006/relationships/viewProps" Target="viewProps.xml" Id="rId4" /><Relationship Type="http://schemas.openxmlformats.org/officeDocument/2006/relationships/slide" Target="/ppt/slides/slide2.xml" Id="R5b6087019bc047c4" /><Relationship Type="http://schemas.openxmlformats.org/officeDocument/2006/relationships/slide" Target="/ppt/slides/slide3.xml" Id="Rf248ca5435274d97" /><Relationship Type="http://schemas.openxmlformats.org/officeDocument/2006/relationships/slide" Target="/ppt/slides/slide4.xml" Id="Rce7d6aa5191c4a01" /><Relationship Type="http://schemas.openxmlformats.org/officeDocument/2006/relationships/slide" Target="/ppt/slides/slide5.xml" Id="Rcf5ffe7a4c8047e4" /><Relationship Type="http://schemas.openxmlformats.org/officeDocument/2006/relationships/slide" Target="/ppt/slides/slide6.xml" Id="R183769ed0a034665" /><Relationship Type="http://schemas.openxmlformats.org/officeDocument/2006/relationships/slide" Target="/ppt/slides/slide7.xml" Id="R2ac068e48e67404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f4c84fe56145a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4a6cb6995c467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b8e51d03df43d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155ed6b8584880" /></Relationships>
</file>

<file path=ppt/slideLayouts/slideLayout2.xml><?xml version="1.0" encoding="utf-8"?>
<p:sldLayout xmlns:a="http://schemas.openxmlformats.org/drawingml/2006/main" xmlns:p="http://schemas.openxmlformats.org/presentationml/2006/main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2"/>
          <p:cNvSpPr>
            <a:spLocks/>
          </p:cNvSpPr>
          <p:nvPr>
            <p:ph type="sldNum" idx="12"/>
          </p:nvPr>
        </p:nvSpPr>
        <p:spPr>
          <a:xfrm>
            <a:off x="10922000" y="6451600"/>
            <a:ext cx="762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fld id="{6D36A8F4-F374-4745-A0C8-56414D95506F}" type="slidenum">
              <a:rPr lang="en-US"/>
              <a:t>‹#›</a:t>
            </a:fld>
            <a:endParaRPr lang="en-US"/>
          </a:p>
        </p:txBody>
      </p:sp>
      <p:sp>
        <p:nvSpPr>
          <p:cNvPr id="3" name="TextBox 3"/>
          <p:cNvSpPr>
            <a:spLocks/>
          </p:cNvSpPr>
          <p:nvPr/>
        </p:nvSpPr>
        <p:spPr>
          <a:xfrm>
            <a:off x="508000" y="6451600"/>
            <a:ext cx="7620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Acme board update. USD millions unless noted.</a:t>
            </a:r>
            <a:endParaRPr sz="1100" b="0" i="0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</p:spTree>
  </p:cSld>
  <p:clrMapOvr>
    <a:masterClrMapping xmlns:a="http://schemas.openxmlformats.org/drawingml/2006/main"/>
  </p:clrMapOvr>
  <p:hf hdr="0"/>
</p:sldLayout>
</file>

<file path=ppt/slideLayouts/slideLayout3.xml><?xml version="1.0" encoding="utf-8"?>
<p:sldLayout xmlns:a="http://schemas.openxmlformats.org/drawingml/2006/main" xmlns:p="http://schemas.openxmlformats.org/presentationml/2006/main" preserve="1">
  <p:cSld name="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2"/>
          <p:cNvSpPr>
            <a:spLocks/>
          </p:cNvSpPr>
          <p:nvPr>
            <p:ph type="title" hasCustomPrompt="1"/>
          </p:nvPr>
        </p:nvSpPr>
        <p:spPr>
          <a:xfrm>
            <a:off x="508000" y="304800"/>
            <a:ext cx="11176000" cy="7112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/>
            </a:lvl1pPr>
          </a:lstStyle>
          <a:p>
            <a:r>
              <a:rPr/>
              <a:t>Title</a:t>
            </a:r>
          </a:p>
        </p:txBody>
      </p:sp>
      <p:sp>
        <p:nvSpPr>
          <p:cNvPr id="3" name="TextBox 3"/>
          <p:cNvSpPr>
            <a:spLocks/>
          </p:cNvSpPr>
          <p:nvPr>
            <p:ph type="sldNum" idx="12"/>
          </p:nvPr>
        </p:nvSpPr>
        <p:spPr>
          <a:xfrm>
            <a:off x="10922000" y="6451600"/>
            <a:ext cx="762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fld id="{01962F80-41F8-4FFD-B1CB-4CA59F167652}" type="slidenum">
              <a:rPr lang="en-US"/>
              <a:t>‹#›</a:t>
            </a:fld>
            <a:endParaRPr lang="en-US"/>
          </a:p>
        </p:txBody>
      </p:sp>
      <p:sp>
        <p:nvSpPr>
          <p:cNvPr id="4" name="TextBox 4"/>
          <p:cNvSpPr>
            <a:spLocks/>
          </p:cNvSpPr>
          <p:nvPr/>
        </p:nvSpPr>
        <p:spPr>
          <a:xfrm>
            <a:off x="508000" y="6451600"/>
            <a:ext cx="7620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Acme board update. USD millions unless noted.</a:t>
            </a:r>
            <a:endParaRPr sz="1100" b="0" i="0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</p:spTree>
  </p:cSld>
  <p:clrMapOvr>
    <a:masterClrMapping xmlns:a="http://schemas.openxmlformats.org/drawingml/2006/main"/>
  </p:clrMapOvr>
  <p:hf hdr="0"/>
</p:sldLayout>
</file>

<file path=ppt/slideLayouts/slideLayout4.xml><?xml version="1.0" encoding="utf-8"?>
<p:sldLayout xmlns:a="http://schemas.openxmlformats.org/drawingml/2006/main" xmlns:p="http://schemas.openxmlformats.org/presentationml/2006/main" preserve="1">
  <p:cSld name="Sec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2"/>
          <p:cNvSpPr>
            <a:spLocks/>
          </p:cNvSpPr>
          <p:nvPr>
            <p:ph type="title" hasCustomPrompt="1"/>
          </p:nvPr>
        </p:nvSpPr>
        <p:spPr>
          <a:xfrm>
            <a:off x="762000" y="2540000"/>
            <a:ext cx="10668000" cy="889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 sz="4000"/>
            </a:lvl1pPr>
          </a:lstStyle>
          <a:p>
            <a:r>
              <a:rPr/>
              <a:t>Title</a:t>
            </a:r>
          </a:p>
        </p:txBody>
      </p:sp>
      <p:sp>
        <p:nvSpPr>
          <p:cNvPr id="3" name="TextBox 3"/>
          <p:cNvSpPr>
            <a:spLocks/>
          </p:cNvSpPr>
          <p:nvPr>
            <p:ph idx="1" hasCustomPrompt="1"/>
          </p:nvPr>
        </p:nvSpPr>
        <p:spPr>
          <a:xfrm>
            <a:off x="762000" y="3556000"/>
            <a:ext cx="10668000" cy="762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 sz="1800">
                <a:solidFill>
                  <a:schemeClr val="dk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/>
              <a:t>summary</a:t>
            </a:r>
          </a:p>
        </p:txBody>
      </p:sp>
      <p:sp>
        <p:nvSpPr>
          <p:cNvPr id="4" name="TextBox 4"/>
          <p:cNvSpPr>
            <a:spLocks/>
          </p:cNvSpPr>
          <p:nvPr>
            <p:ph type="sldNum" idx="12"/>
          </p:nvPr>
        </p:nvSpPr>
        <p:spPr>
          <a:xfrm>
            <a:off x="10922000" y="6451600"/>
            <a:ext cx="762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fld id="{6DF15392-A4E9-4E6E-8BEE-F8BF675D2B10}" type="slidenum">
              <a:rPr lang="en-US"/>
              <a:t>‹#›</a:t>
            </a:fld>
            <a:endParaRPr lang="en-US"/>
          </a:p>
        </p:txBody>
      </p:sp>
      <p:sp>
        <p:nvSpPr>
          <p:cNvPr id="5" name="TextBox 5"/>
          <p:cNvSpPr>
            <a:spLocks/>
          </p:cNvSpPr>
          <p:nvPr/>
        </p:nvSpPr>
        <p:spPr>
          <a:xfrm>
            <a:off x="508000" y="6451600"/>
            <a:ext cx="7620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Acme board update. USD millions unless noted.</a:t>
            </a:r>
            <a:endParaRPr sz="1100" b="0" i="0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</p:spTree>
  </p:cSld>
  <p:clrMapOvr>
    <a:masterClrMapping xmlns:a="http://schemas.openxmlformats.org/drawingml/2006/main"/>
  </p:clrMapOvr>
  <p:hf hdr="0"/>
</p:sldLayout>
</file>

<file path=ppt/slideLayouts/slideLayout5.xml><?xml version="1.0" encoding="utf-8"?>
<p:sldLayout xmlns:a="http://schemas.openxmlformats.org/drawingml/2006/main" xmlns:p="http://schemas.openxmlformats.org/presentationml/2006/main" preserve="1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2"/>
          <p:cNvSpPr>
            <a:spLocks/>
          </p:cNvSpPr>
          <p:nvPr>
            <p:ph type="title" hasCustomPrompt="1"/>
          </p:nvPr>
        </p:nvSpPr>
        <p:spPr>
          <a:xfrm>
            <a:off x="762000" y="2286000"/>
            <a:ext cx="10668000" cy="1143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 algn="ctr">
              <a:buNone/>
              <a:defRPr sz="4000"/>
            </a:lvl1pPr>
          </a:lstStyle>
          <a:p>
            <a:r>
              <a:rPr/>
              <a:t>Title</a:t>
            </a:r>
          </a:p>
        </p:txBody>
      </p:sp>
      <p:sp>
        <p:nvSpPr>
          <p:cNvPr id="3" name="TextBox 3"/>
          <p:cNvSpPr>
            <a:spLocks/>
          </p:cNvSpPr>
          <p:nvPr>
            <p:ph idx="1" hasCustomPrompt="1"/>
          </p:nvPr>
        </p:nvSpPr>
        <p:spPr>
          <a:xfrm>
            <a:off x="762000" y="3556000"/>
            <a:ext cx="10668000" cy="508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 algn="ctr">
              <a:buNone/>
              <a:defRPr sz="1800">
                <a:solidFill>
                  <a:schemeClr val="dk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/>
              <a:t>subtitle</a:t>
            </a:r>
          </a:p>
        </p:txBody>
      </p:sp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../theme/theme1.xml" Id="rId12" /><Relationship Type="http://schemas.openxmlformats.org/officeDocument/2006/relationships/slideLayout" Target="/ppt/slideLayouts/slideLayout2.xml" Id="R6fc6f4203fe04ced" /><Relationship Type="http://schemas.openxmlformats.org/officeDocument/2006/relationships/slideLayout" Target="/ppt/slideLayouts/slideLayout3.xml" Id="R2a82274228f84f3c" /><Relationship Type="http://schemas.openxmlformats.org/officeDocument/2006/relationships/slideLayout" Target="/ppt/slideLayouts/slideLayout4.xml" Id="R12965888627d4d82" /><Relationship Type="http://schemas.openxmlformats.org/officeDocument/2006/relationships/slideLayout" Target="/ppt/slideLayouts/slideLayout5.xml" Id="Rf9c919e89a1545e2" /></Relationships>
</file>

<file path=ppt/slideMasters/slideMaster1.xml><?xml version="1.0" encoding="utf-8"?>
<p:sldMaster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2DC98E-7245-506C-4DA3-0445A9E66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42EE9F-CC31-DF39-A062-B2B15B63B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D7E38B-7287-F4F9-DAB0-D29023A03E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CAA507-60AD-4984-B2C6-F019B10A8FA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BE9552-342F-9B46-5A56-D78EBE59D5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53C071-B40B-CD92-E682-4B644211F2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E72529-519C-4CBA-8A8F-900AA26834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338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6fc6f4203fe04ced"/>
    <p:sldLayoutId id="2147483651" r:id="R2a82274228f84f3c"/>
    <p:sldLayoutId id="2147483652" r:id="R12965888627d4d82"/>
    <p:sldLayoutId id="2147483653" r:id="Rf9c919e89a1545e2"/>
  </p:sldLayoutIdLst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None/>
        <a:defRPr sz="2800" b="0" i="0" u="none" kern="1200">
          <a:solidFill>
            <a:schemeClr val="dk1"/>
          </a:solidFill>
          <a:latin typeface="+mj-lt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None/>
        <a:defRPr sz="1600" b="0" i="0" u="none" kern="1200">
          <a:solidFill>
            <a:schemeClr val="dk1"/>
          </a:solidFill>
          <a:latin typeface="+mn-lt"/>
        </a:defRPr>
      </a:lvl1pPr>
      <a:lvl2pPr marL="2286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Font typeface="Arial"/>
        <a:buChar char="•"/>
        <a:defRPr sz="1600" b="0" i="0" u="none" kern="1200">
          <a:solidFill>
            <a:schemeClr val="dk1"/>
          </a:solidFill>
          <a:latin typeface="+mn-lt"/>
        </a:defRPr>
      </a:lvl2pPr>
      <a:lvl3pPr marL="457200" indent="-228600" algn="l" defTabSz="914400" rtl="0" eaLnBrk="1" latinLnBrk="0" hangingPunct="1">
        <a:lnSpc>
          <a:spcPct val="100000"/>
        </a:lnSpc>
        <a:spcBef>
          <a:spcPts val="300"/>
        </a:spcBef>
        <a:spcAft>
          <a:spcPts val="0"/>
        </a:spcAft>
        <a:buFont typeface="Arial" panose="020B0604020202020204" pitchFamily="34" charset="0"/>
        <a:buChar char="–"/>
        <a:defRPr sz="1400" b="0" i="0" u="none" kern="1200">
          <a:solidFill>
            <a:schemeClr val="dk1"/>
          </a:solidFill>
          <a:latin typeface="+mn-lt"/>
        </a:defRPr>
      </a:lvl3pPr>
      <a:lvl4pPr marL="6858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/>
        <a:buChar char="•"/>
        <a:defRPr sz="1200" b="0" i="0" u="none" kern="1200">
          <a:solidFill>
            <a:schemeClr val="dk1"/>
          </a:solidFill>
          <a:latin typeface="+mn-lt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None/>
        <a:defRPr sz="1600" b="0" i="0" u="none" kern="1200">
          <a:solidFill>
            <a:schemeClr val="dk1"/>
          </a:solidFill>
          <a:latin typeface="+mn-l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8b27c0cfb5c24f4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7b2119a0aa22464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66b05319cef4c8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c071b9f78fbe405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a23296dc5234d1f" /><Relationship Type="http://schemas.openxmlformats.org/officeDocument/2006/relationships/chart" Target="/ppt/slides/charts/chart1.xml" Id="Rfb7e5b456b9445e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8b0417d34bd43e9" /></Relationships>
</file>

<file path=ppt/slides/charts/_rels/chart1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.bin" Id="R0bf7690cc8454cfc" /></Relationships>
</file>

<file path=ppt/slides/charts/chart1.xml><?xml version="1.0" encoding="utf-8"?>
<c:chartSpace xmlns:c="http://schemas.openxmlformats.org/drawingml/2006/chart"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 xmlns:a="http://schemas.openxmlformats.org/drawingml/2006/main">
              <a:schemeClr val="accent1"/>
            </a:solidFill>
          </c:spPr>
          <c:invertIfNegative val="0"/>
          <c:dLbls>
            <c:numFmt formatCode="&quot;$&quot;#,##0.0,&quot;B&quot;;(&quot;$&quot;#,##0.0,&quot;B&quot;)" sourceLinked="0"/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rot="0" spcFirstLastPara="1" vertOverflow="ellipsis" vert="horz" wrap="square" lIns="38100" tIns="19050" rIns="38100" bIns="19050" anchor="ctr" anchorCtr="1">
                <a:spAutoFit/>
              </a:bodyPr>
              <a:lstStyle xmlns:a="http://schemas.openxmlformats.org/drawingml/2006/main"/>
              <a:p xmlns:a="http://schemas.openxmlformats.org/drawingml/2006/main">
                <a:pPr>
                  <a:defRPr sz="1100" b="0" i="0" u="none" strike="noStrike" kern="1200" baseline="0">
                    <a:solidFill>
                      <a:schemeClr val="dk1"/>
                    </a:solidFill>
                    <a:latin typeface="+mn-l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Financing</c:v>
                </c:pt>
                <c:pt idx="1">
                  <c:v>Investing</c:v>
                </c:pt>
                <c:pt idx="2">
                  <c:v>Operating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26350</c:v>
                </c:pt>
                <c:pt idx="1">
                  <c:v>-19575</c:v>
                </c:pt>
                <c:pt idx="2">
                  <c:v>6785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 xmlns:a="http://schemas.openxmlformats.org/drawingml/2006/main">
              <a:schemeClr val="accent1">
                <a:lumMod val="70000"/>
                <a:lumOff val="30000"/>
              </a:schemeClr>
            </a:solidFill>
          </c:spPr>
          <c:invertIfNegative val="0"/>
          <c:dLbls>
            <c:numFmt formatCode="&quot;$&quot;#,##0.0,&quot;B&quot;;(&quot;$&quot;#,##0.0,&quot;B&quot;)" sourceLinked="0"/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rot="0" spcFirstLastPara="1" vertOverflow="ellipsis" vert="horz" wrap="square" lIns="38100" tIns="19050" rIns="38100" bIns="19050" anchor="ctr" anchorCtr="1">
                <a:spAutoFit/>
              </a:bodyPr>
              <a:lstStyle xmlns:a="http://schemas.openxmlformats.org/drawingml/2006/main"/>
              <a:p xmlns:a="http://schemas.openxmlformats.org/drawingml/2006/main">
                <a:pPr>
                  <a:defRPr sz="1100" b="0" i="0" u="none" strike="noStrike" kern="1200" baseline="0">
                    <a:solidFill>
                      <a:schemeClr val="dk1"/>
                    </a:solidFill>
                    <a:latin typeface="+mn-l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Financing</c:v>
                </c:pt>
                <c:pt idx="1">
                  <c:v>Investing</c:v>
                </c:pt>
                <c:pt idx="2">
                  <c:v>Operating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11830</c:v>
                </c:pt>
                <c:pt idx="1">
                  <c:v>-10796</c:v>
                </c:pt>
                <c:pt idx="2">
                  <c:v>5776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2023</c:v>
                </c:pt>
              </c:strCache>
            </c:strRef>
          </c:tx>
          <c:spPr>
            <a:solidFill xmlns:a="http://schemas.openxmlformats.org/drawingml/2006/main">
              <a:schemeClr val="accent1">
                <a:lumMod val="40000"/>
                <a:lumOff val="60000"/>
              </a:schemeClr>
            </a:solidFill>
          </c:spPr>
          <c:invertIfNegative val="0"/>
          <c:dLbls>
            <c:numFmt formatCode="&quot;$&quot;#,##0.0,&quot;B&quot;;(&quot;$&quot;#,##0.0,&quot;B&quot;)" sourceLinked="0"/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rot="0" spcFirstLastPara="1" vertOverflow="ellipsis" vert="horz" wrap="square" lIns="38100" tIns="19050" rIns="38100" bIns="19050" anchor="ctr" anchorCtr="1">
                <a:spAutoFit/>
              </a:bodyPr>
              <a:lstStyle xmlns:a="http://schemas.openxmlformats.org/drawingml/2006/main"/>
              <a:p xmlns:a="http://schemas.openxmlformats.org/drawingml/2006/main">
                <a:pPr>
                  <a:defRPr sz="1100" b="0" i="0" u="none" strike="noStrike" kern="1200" baseline="0">
                    <a:solidFill>
                      <a:schemeClr val="dk1"/>
                    </a:solidFill>
                    <a:latin typeface="+mn-l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Financing</c:v>
                </c:pt>
                <c:pt idx="1">
                  <c:v>Investing</c:v>
                </c:pt>
                <c:pt idx="2">
                  <c:v>Operating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422</c:v>
                </c:pt>
                <c:pt idx="1">
                  <c:v>-4867</c:v>
                </c:pt>
                <c:pt idx="2">
                  <c:v>4520</c:v>
                </c:pt>
              </c:numCache>
            </c:numRef>
          </c:val>
        </c:ser>
        <c:gapWidth val="80"/>
        <c:overlap val="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noFill xmlns:a="http://schemas.openxmlformats.org/drawingml/2006/main"/>
          <a:ln xmlns:a="http://schemas.openxmlformats.org/drawingml/2006/main">
            <a:solidFill>
              <a:schemeClr val="tx1">
                <a:lumMod val="15000"/>
                <a:lumOff val="85000"/>
              </a:schemeClr>
            </a:solidFill>
          </a:ln>
        </c:spPr>
        <c:txPr>
          <a:bodyPr xmlns:a="http://schemas.openxmlformats.org/drawingml/2006/main"/>
          <a:p xmlns:a="http://schemas.openxmlformats.org/drawingml/2006/main">
            <a:pPr>
              <a:defRPr sz="1100" b="0">
                <a:solidFill>
                  <a:schemeClr val="dk1"/>
                </a:solidFill>
                <a:latin typeface="+mn-lt"/>
              </a:defRPr>
            </a:pPr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30000"/>
          <c:min val="-25000"/>
        </c:scaling>
        <c:delete val="0"/>
        <c:axPos val="l"/>
        <c:majorGridlines>
          <c:spPr>
            <a:ln xmlns:a="http://schemas.openxmlformats.org/drawingml/2006/main">
              <a:solidFill>
                <a:schemeClr val="tx1">
                  <a:lumMod val="15000"/>
                  <a:lumOff val="85000"/>
                </a:schemeClr>
              </a:solidFill>
            </a:ln>
          </c:spPr>
        </c:majorGridlines>
        <c:numFmt formatCode="&quot;$&quot;#,##0.0,&quot;B&quot;;(&quot;$&quot;#,##0.0,&quot;B&quot;)" sourceLinked="0"/>
        <c:majorTickMark val="none"/>
        <c:minorTickMark val="none"/>
        <c:tickLblPos val="nextTo"/>
        <c:spPr>
          <a:noFill xmlns:a="http://schemas.openxmlformats.org/drawingml/2006/main"/>
          <a:ln xmlns:a="http://schemas.openxmlformats.org/drawingml/2006/main">
            <a:noFill/>
          </a:ln>
        </c:spPr>
        <c:txPr>
          <a:bodyPr xmlns:a="http://schemas.openxmlformats.org/drawingml/2006/main"/>
          <a:p xmlns:a="http://schemas.openxmlformats.org/drawingml/2006/main">
            <a:pPr>
              <a:defRPr sz="1100" b="0">
                <a:solidFill>
                  <a:schemeClr val="dk1"/>
                </a:solidFill>
                <a:latin typeface="+mn-lt"/>
              </a:defRPr>
            </a:pPr>
          </a:p>
        </c:txPr>
        <c:crossAx val="111111111"/>
        <c:crosses val="autoZero"/>
        <c:crossBetween val="between"/>
        <c:majorUnit val="5000"/>
      </c:valAx>
    </c:plotArea>
    <c:legend>
      <c:legendPos val="b"/>
      <c:overlay val="0"/>
      <c:txPr>
        <a:bodyPr xmlns:a="http://schemas.openxmlformats.org/drawingml/2006/main"/>
        <a:p xmlns:a="http://schemas.openxmlformats.org/drawingml/2006/main">
          <a:pPr>
            <a:defRPr sz="1100" b="0">
              <a:solidFill>
                <a:schemeClr val="dk1"/>
              </a:solidFill>
              <a:latin typeface="+mn-lt"/>
            </a:defRPr>
          </a:pPr>
        </a:p>
      </c:txPr>
    </c:legend>
    <c:plotVisOnly val="1"/>
    <c:dispBlanksAs val="gap"/>
  </c:chart>
  <c:externalData xmlns:r="http://schemas.openxmlformats.org/officeDocument/2006/relationships" r:id="R0bf7690cc8454cfc">
    <c:autoUpdate val="0"/>
  </c:externalData>
</c:chartSpace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ctr">
              <a:buNone/>
              <a:defRPr sz="4000"/>
            </a:lvl1pPr>
          </a:lstStyle>
          <a:p>
            <a:r>
              <a:rPr/>
              <a:t>Acme balance sheet and cash flow</a:t>
            </a:r>
          </a:p>
        </p:txBody>
      </p:sp>
      <p:sp>
        <p:nvSpPr>
          <p:cNvPr id="3" name="Content Placeholder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ctr">
              <a:buNone/>
              <a:defRPr sz="1800">
                <a:solidFill>
                  <a:schemeClr val="dk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/>
              <a:t>Board update, </a:t>
            </a:r>
            <a:r>
              <a:rPr/>
              <a:t>September 28, 2026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4000"/>
            </a:lvl1pPr>
          </a:lstStyle>
          <a:p>
            <a:r>
              <a:rPr/>
              <a:t>Balance sheet</a:t>
            </a:r>
          </a:p>
        </p:txBody>
      </p:sp>
      <p:sp>
        <p:nvSpPr>
          <p:cNvPr id="3" name="Content Placeholder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1800">
                <a:solidFill>
                  <a:schemeClr val="dk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/>
              <a:t>December 2024 to June 2026, before and after the IPO</a:t>
            </a:r>
          </a:p>
        </p:txBody>
      </p:sp>
      <p:sp>
        <p:nvSpPr>
          <p:cNvPr id="4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6DF15392-A4E9-4E6E-8BEE-F8BF675D2B10}" type="slidenum">
              <a:rPr lang="en-US"/>
              <a:t>‹#›</a:t>
            </a:fld>
            <a:endParaRPr lang="en-US"/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/>
            </a:lvl1pPr>
          </a:lstStyle>
          <a:p>
            <a:r>
              <a:rPr/>
              <a:t>The June 2026 IPO lifted cash to $93.5B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508000" y="1270000"/>
          <a:ext cx="11176000" cy="2743200"/>
        </p:xfrm>
        <a:graphic>
          <a:graphicData uri="http://schemas.openxmlformats.org/drawingml/2006/table">
            <a:tbl>
              <a:tblPr firstRow="1" bandRow="0"/>
              <a:tblGrid>
                <a:gridCol w="5080000"/>
                <a:gridCol w="2032000"/>
                <a:gridCol w="2032000"/>
                <a:gridCol w="2032000"/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December 31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June 30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>
                              <a:lumMod val="50000"/>
                              <a:lumOff val="50000"/>
                            </a:schemeClr>
                          </a:solidFill>
                          <a:latin typeface="+mn-lt"/>
                        </a:rPr>
                        <a:t>USD millions</a:t>
                      </a:r>
                      <a:endParaRPr sz="1600" b="0" i="0" u="none">
                        <a:solidFill>
                          <a:schemeClr val="dk1">
                            <a:lumMod val="50000"/>
                            <a:lumOff val="50000"/>
                          </a:schemeClr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2024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2025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2026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Cash and cash equivalents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11,385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24,747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93,522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Total current assets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16,108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30,952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108,047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T>
                    <a:lnB w="0" cmpd="sng">
                      <a:noFill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Property, plant and equipment, net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21,147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42,602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65,736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Total assets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57,062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92,079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192,770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Total liabilities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254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31,258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254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50,754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254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65,546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254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Redeemable convertible preferred stock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20,941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38,752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—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Total shareholders' equity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4,863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2,573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127,224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Total liabilities, preferred stock, and equity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57,062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92,079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192,770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5"/>
          <p:cNvSpPr>
            <a:spLocks/>
          </p:cNvSpPr>
          <p:nvPr/>
        </p:nvSpPr>
        <p:spPr>
          <a:xfrm>
            <a:off x="508000" y="6121400"/>
            <a:ext cx="11176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Source: Acme S-1/A (December 2024 and 2025) and 10-Q (June 30, 2026, unaudited). The IPO converted all preferred stock into common stock.</a:t>
            </a:r>
            <a:endParaRPr sz="900" b="0" i="1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3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01962F80-41F8-4FFD-B1CB-4CA59F167652}" type="slidenum">
              <a:rPr lang="en-US"/>
              <a:t>‹#›</a:t>
            </a:fld>
            <a:endParaRPr lang="en-US"/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4000"/>
            </a:lvl1pPr>
          </a:lstStyle>
          <a:p>
            <a:r>
              <a:rPr/>
              <a:t>Cash flow</a:t>
            </a:r>
          </a:p>
        </p:txBody>
      </p:sp>
      <p:sp>
        <p:nvSpPr>
          <p:cNvPr id="3" name="Content Placeholder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1800">
                <a:solidFill>
                  <a:schemeClr val="dk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/>
              <a:t>Fiscal years 2023 to 2025</a:t>
            </a:r>
          </a:p>
        </p:txBody>
      </p:sp>
      <p:sp>
        <p:nvSpPr>
          <p:cNvPr id="4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6DF15392-A4E9-4E6E-8BEE-F8BF675D2B10}" type="slidenum">
              <a:rPr lang="en-US"/>
              <a:t>‹#›</a:t>
            </a:fld>
            <a:endParaRPr lang="en-US"/>
          </a:p>
        </p:txBody>
      </p:sp>
    </p:spTree>
  </p:cSld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/>
            </a:lvl1pPr>
          </a:lstStyle>
          <a:p>
            <a:r>
              <a:rPr/>
              <a:t>Capital raising, not operations, funded the capex ramp</a:t>
            </a:r>
          </a:p>
        </p:txBody>
      </p:sp>
      <p:graphicFrame>
        <p:nvGraphicFramePr>
          <p:cNvPr id="4" name="Chart 4"/>
          <p:cNvGraphicFramePr>
            <a:graphicFrameLocks noGrp="1"/>
          </p:cNvGraphicFramePr>
          <p:nvPr/>
        </p:nvGraphicFramePr>
        <p:xfrm>
          <a:off x="508000" y="1270000"/>
          <a:ext cx="5461000" cy="4826000"/>
        </p:xfrm>
        <a:graphic>
          <a:graphicData uri="http://schemas.openxmlformats.org/drawingml/2006/chart">
            <c:chart xmlns:r="http://schemas.openxmlformats.org/officeDocument/2006/relationships" xmlns:c="http://schemas.openxmlformats.org/drawingml/2006/chart" r:id="Rfb7e5b456b9445e1"/>
          </a:graphicData>
        </a:graphic>
      </p:graphicFrame>
      <p:sp>
        <p:nvSpPr>
          <p:cNvPr id="5" name="TextBox 5"/>
          <p:cNvSpPr>
            <a:spLocks/>
          </p:cNvSpPr>
          <p:nvPr/>
        </p:nvSpPr>
        <p:spPr>
          <a:xfrm>
            <a:off x="6223000" y="1270000"/>
            <a:ext cx="5461000" cy="4826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 b="1" i="0" u="none">
                <a:solidFill>
                  <a:schemeClr val="dk1"/>
                </a:solidFill>
                <a:latin typeface="+mn-lt"/>
              </a:rPr>
              <a:t>Net cash by activity, 2023 to 2025</a:t>
            </a:r>
            <a:endParaRPr sz="1800" b="1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Operating cash flow grew from $4.5B to $6.8B</a:t>
            </a:r>
            <a:endParaRPr sz="1600" b="0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Purchases of property, plant and equipment rose from $4.4B to </a:t>
            </a:r>
            <a:r>
              <a:rPr sz="1600" b="1" i="0" u="none">
                <a:solidFill>
                  <a:schemeClr val="accent1"/>
                </a:solidFill>
                <a:latin typeface="+mn-lt"/>
              </a:rPr>
              <a:t>$20.7B</a:t>
            </a:r>
            <a:endParaRPr sz="1600" b="1" i="0" u="none">
              <a:solidFill>
                <a:schemeClr val="accent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2025 financing brought in $26.4B</a:t>
            </a:r>
            <a:endParaRPr sz="1600" b="1" i="0" u="none">
              <a:solidFill>
                <a:schemeClr val="accent1"/>
              </a:solidFill>
              <a:latin typeface="+mn-lt"/>
            </a:endParaRPr>
          </a:p>
          <a:p>
            <a:pPr marL="45720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–"/>
            </a:pPr>
            <a:r>
              <a:rPr sz="1400" b="0" i="0" u="none">
                <a:solidFill>
                  <a:schemeClr val="dk1"/>
                </a:solidFill>
                <a:latin typeface="+mn-lt"/>
              </a:rPr>
              <a:t>$18.8B from issuing capital stock</a:t>
            </a:r>
            <a:endParaRPr sz="1600" b="1" i="0" u="none">
              <a:solidFill>
                <a:schemeClr val="accent1"/>
              </a:solidFill>
              <a:latin typeface="+mn-lt"/>
            </a:endParaRPr>
          </a:p>
          <a:p>
            <a:pPr marL="45720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–"/>
            </a:pPr>
            <a:r>
              <a:rPr sz="1400" b="0" i="0" u="none">
                <a:solidFill>
                  <a:schemeClr val="dk1"/>
                </a:solidFill>
                <a:latin typeface="+mn-lt"/>
              </a:rPr>
              <a:t>$16.1B of new debt, less $6.9B repaid</a:t>
            </a:r>
            <a:endParaRPr sz="1600" b="1" i="0" u="none">
              <a:solidFill>
                <a:schemeClr val="accent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Cash and restricted cash ended 2025 at $25.1B</a:t>
            </a:r>
            <a:endParaRPr sz="1600" b="1" i="0" u="none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6" name="TextBox 6"/>
          <p:cNvSpPr>
            <a:spLocks/>
          </p:cNvSpPr>
          <p:nvPr/>
        </p:nvSpPr>
        <p:spPr>
          <a:xfrm>
            <a:off x="508000" y="6121400"/>
            <a:ext cx="11176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Source: Acme S-1/A, consolidated statements of cash flows</a:t>
            </a:r>
            <a:endParaRPr sz="900" b="0" i="1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3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01962F80-41F8-4FFD-B1CB-4CA59F167652}" type="slidenum">
              <a:rPr lang="en-US"/>
              <a:t>‹#›</a:t>
            </a:fld>
            <a:endParaRPr lang="en-US"/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/>
            </a:lvl1pPr>
          </a:lstStyle>
          <a:p>
            <a:r>
              <a:rPr/>
              <a:t>Financing covered 2025 investing; cash more than doubled</a:t>
            </a:r>
          </a:p>
        </p:txBody>
      </p:sp>
      <p:sp>
        <p:nvSpPr>
          <p:cNvPr id="8" name="TextBox 8"/>
          <p:cNvSpPr>
            <a:spLocks/>
          </p:cNvSpPr>
          <p:nvPr/>
        </p:nvSpPr>
        <p:spPr>
          <a:xfrm>
            <a:off x="508000" y="1778000"/>
            <a:ext cx="3048000" cy="1143000"/>
          </a:xfrm>
          <a:prstGeom prst="roundRect">
            <a:avLst>
              <a:gd name="adj" fmla="val 8889"/>
            </a:avLst>
          </a:prstGeom>
          <a:solidFill>
            <a:schemeClr val="accent6">
              <a:lumMod val="40000"/>
              <a:lumOff val="60000"/>
            </a:schemeClr>
          </a:solidFill>
          <a:ln w="0"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>
                <a:solidFill>
                  <a:schemeClr val="dk1"/>
                </a:solidFill>
                <a:latin typeface="+mn-lt"/>
              </a:rPr>
              <a:t>Operating</a:t>
            </a:r>
            <a:endParaRPr sz="1600" b="1" i="0" u="none">
              <a:solidFill>
                <a:schemeClr val="dk1"/>
              </a:solidFill>
              <a:latin typeface="+mn-lt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$6.8B</a:t>
            </a:r>
            <a:endParaRPr sz="1600" b="0" i="0" u="none">
              <a:solidFill>
                <a:schemeClr val="dk1"/>
              </a:solidFill>
              <a:latin typeface="+mn-lt"/>
            </a:endParaRPr>
          </a:p>
        </p:txBody>
      </p:sp>
      <p:sp>
        <p:nvSpPr>
          <p:cNvPr id="9" name="TextBox 9"/>
          <p:cNvSpPr>
            <a:spLocks/>
          </p:cNvSpPr>
          <p:nvPr/>
        </p:nvSpPr>
        <p:spPr>
          <a:xfrm>
            <a:off x="508000" y="3683000"/>
            <a:ext cx="3048000" cy="1143000"/>
          </a:xfrm>
          <a:prstGeom prst="roundRect">
            <a:avLst>
              <a:gd name="adj" fmla="val 8889"/>
            </a:avLst>
          </a:prstGeom>
          <a:solidFill>
            <a:schemeClr val="accent6">
              <a:lumMod val="40000"/>
              <a:lumOff val="60000"/>
            </a:schemeClr>
          </a:solidFill>
          <a:ln w="0"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>
                <a:solidFill>
                  <a:schemeClr val="dk1"/>
                </a:solidFill>
                <a:latin typeface="+mn-lt"/>
              </a:rPr>
              <a:t>Financing</a:t>
            </a:r>
            <a:endParaRPr sz="1600" b="1" i="0" u="none">
              <a:solidFill>
                <a:schemeClr val="dk1"/>
              </a:solidFill>
              <a:latin typeface="+mn-lt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$26.4B</a:t>
            </a:r>
            <a:endParaRPr sz="1600" b="0" i="0" u="none">
              <a:solidFill>
                <a:schemeClr val="dk1"/>
              </a:solidFill>
              <a:latin typeface="+mn-lt"/>
            </a:endParaRPr>
          </a:p>
        </p:txBody>
      </p:sp>
      <p:sp>
        <p:nvSpPr>
          <p:cNvPr id="10" name="TextBox 10"/>
          <p:cNvSpPr>
            <a:spLocks/>
          </p:cNvSpPr>
          <p:nvPr/>
        </p:nvSpPr>
        <p:spPr>
          <a:xfrm>
            <a:off x="4826000" y="2730500"/>
            <a:ext cx="2032000" cy="1143000"/>
          </a:xfrm>
          <a:prstGeom prst="ellipse">
            <a:avLst/>
          </a:prstGeom>
          <a:solidFill>
            <a:schemeClr val="dk2"/>
          </a:solidFill>
          <a:ln w="0"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>
                <a:solidFill>
                  <a:schemeClr val="lt1"/>
                </a:solidFill>
                <a:latin typeface="+mn-lt"/>
              </a:rPr>
              <a:t>2025</a:t>
            </a:r>
            <a:endParaRPr sz="1600" b="1" i="0" u="none">
              <a:solidFill>
                <a:schemeClr val="lt1"/>
              </a:solidFill>
              <a:latin typeface="+mn-lt"/>
            </a:endParaRPr>
          </a:p>
        </p:txBody>
      </p:sp>
      <p:sp>
        <p:nvSpPr>
          <p:cNvPr id="11" name="TextBox 11"/>
          <p:cNvSpPr>
            <a:spLocks/>
          </p:cNvSpPr>
          <p:nvPr/>
        </p:nvSpPr>
        <p:spPr>
          <a:xfrm>
            <a:off x="8128000" y="1778000"/>
            <a:ext cx="3556000" cy="1143000"/>
          </a:xfrm>
          <a:prstGeom prst="roundRect">
            <a:avLst>
              <a:gd name="adj" fmla="val 8889"/>
            </a:avLst>
          </a:prstGeom>
          <a:solidFill>
            <a:schemeClr val="accent2">
              <a:lumMod val="40000"/>
              <a:lumOff val="60000"/>
            </a:schemeClr>
          </a:solidFill>
          <a:ln w="0"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>
                <a:solidFill>
                  <a:schemeClr val="dk1"/>
                </a:solidFill>
                <a:latin typeface="+mn-lt"/>
              </a:rPr>
              <a:t>Investing</a:t>
            </a:r>
            <a:endParaRPr sz="1600" b="1" i="0" u="none">
              <a:solidFill>
                <a:schemeClr val="dk1"/>
              </a:solidFill>
              <a:latin typeface="+mn-lt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($19.6B)</a:t>
            </a:r>
            <a:endParaRPr sz="1600" b="0" i="0" u="none">
              <a:solidFill>
                <a:schemeClr val="dk1"/>
              </a:solidFill>
              <a:latin typeface="+mn-lt"/>
            </a:endParaRPr>
          </a:p>
        </p:txBody>
      </p:sp>
      <p:sp>
        <p:nvSpPr>
          <p:cNvPr id="12" name="TextBox 12"/>
          <p:cNvSpPr>
            <a:spLocks/>
          </p:cNvSpPr>
          <p:nvPr/>
        </p:nvSpPr>
        <p:spPr>
          <a:xfrm>
            <a:off x="8128000" y="3683000"/>
            <a:ext cx="3556000" cy="114300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0"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>
                <a:solidFill>
                  <a:schemeClr val="lt1"/>
                </a:solidFill>
                <a:latin typeface="+mn-lt"/>
              </a:rPr>
              <a:t>Net change in cash</a:t>
            </a:r>
            <a:endParaRPr sz="1600" b="1" i="0" u="none">
              <a:solidFill>
                <a:schemeClr val="lt1"/>
              </a:solidFill>
              <a:latin typeface="+mn-lt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chemeClr val="lt1"/>
                </a:solidFill>
                <a:latin typeface="+mn-lt"/>
              </a:rPr>
              <a:t>$13.6B</a:t>
            </a:r>
            <a:endParaRPr sz="1600" b="0" i="0" u="none">
              <a:solidFill>
                <a:schemeClr val="lt1"/>
              </a:solidFill>
              <a:latin typeface="+mn-lt"/>
            </a:endParaRPr>
          </a:p>
        </p:txBody>
      </p:sp>
      <p:sp>
        <p:nvSpPr>
          <p:cNvPr id="4" name="Shape 4"/>
          <p:cNvSpPr>
            <a:spLocks/>
          </p:cNvSpPr>
          <p:nvPr/>
        </p:nvSpPr>
        <p:spPr>
          <a:xfrm>
            <a:off x="3556000" y="2349500"/>
            <a:ext cx="1270000" cy="825500"/>
          </a:xfrm>
          <a:prstGeom prst="line">
            <a:avLst/>
          </a:prstGeom>
          <a:ln w="19050">
            <a:solidFill>
              <a:schemeClr val="dk1">
                <a:lumMod val="50000"/>
                <a:lumOff val="50000"/>
              </a:schemeClr>
            </a:solidFill>
            <a:tailEnd type="triangle"/>
          </a:ln>
        </p:spPr>
      </p:sp>
      <p:sp>
        <p:nvSpPr>
          <p:cNvPr id="5" name="Shape 5"/>
          <p:cNvSpPr>
            <a:spLocks/>
          </p:cNvSpPr>
          <p:nvPr/>
        </p:nvSpPr>
        <p:spPr>
          <a:xfrm flipV="1">
            <a:off x="3556000" y="3429000"/>
            <a:ext cx="1270000" cy="825500"/>
          </a:xfrm>
          <a:prstGeom prst="line">
            <a:avLst/>
          </a:prstGeom>
          <a:ln w="19050">
            <a:solidFill>
              <a:schemeClr val="dk1">
                <a:lumMod val="50000"/>
                <a:lumOff val="50000"/>
              </a:schemeClr>
            </a:solidFill>
            <a:tailEnd type="triangle"/>
          </a:ln>
        </p:spPr>
      </p:sp>
      <p:sp>
        <p:nvSpPr>
          <p:cNvPr id="6" name="Shape 6"/>
          <p:cNvSpPr>
            <a:spLocks/>
          </p:cNvSpPr>
          <p:nvPr/>
        </p:nvSpPr>
        <p:spPr>
          <a:xfrm flipV="1">
            <a:off x="6858000" y="2349500"/>
            <a:ext cx="1270000" cy="825500"/>
          </a:xfrm>
          <a:prstGeom prst="line">
            <a:avLst/>
          </a:prstGeom>
          <a:ln w="19050">
            <a:solidFill>
              <a:schemeClr val="dk1">
                <a:lumMod val="50000"/>
                <a:lumOff val="50000"/>
              </a:schemeClr>
            </a:solidFill>
            <a:headEnd type="oval"/>
            <a:tailEnd type="triangle"/>
          </a:ln>
        </p:spPr>
      </p:sp>
      <p:sp>
        <p:nvSpPr>
          <p:cNvPr id="7" name="Shape 7"/>
          <p:cNvSpPr>
            <a:spLocks/>
          </p:cNvSpPr>
          <p:nvPr/>
        </p:nvSpPr>
        <p:spPr>
          <a:xfrm>
            <a:off x="6858000" y="3429000"/>
            <a:ext cx="1270000" cy="825500"/>
          </a:xfrm>
          <a:prstGeom prst="line">
            <a:avLst/>
          </a:prstGeom>
          <a:ln w="19050">
            <a:solidFill>
              <a:schemeClr val="dk1">
                <a:lumMod val="50000"/>
                <a:lumOff val="50000"/>
              </a:schemeClr>
            </a:solidFill>
            <a:headEnd type="oval"/>
            <a:tailEnd type="triangle"/>
          </a:ln>
        </p:spPr>
      </p:sp>
      <p:sp>
        <p:nvSpPr>
          <p:cNvPr id="13" name="TextBox 13"/>
          <p:cNvSpPr>
            <a:spLocks/>
          </p:cNvSpPr>
          <p:nvPr/>
        </p:nvSpPr>
        <p:spPr>
          <a:xfrm>
            <a:off x="3810000" y="1270000"/>
            <a:ext cx="3302000" cy="635000"/>
          </a:xfrm>
          <a:prstGeom prst="wedgeRectCallout">
            <a:avLst/>
          </a:prstGeom>
          <a:solidFill>
            <a:schemeClr val="lt1"/>
          </a:solidFill>
          <a:ln w="19050">
            <a:solidFill>
              <a:schemeClr val="accent2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>
                <a:solidFill>
                  <a:schemeClr val="dk1"/>
                </a:solidFill>
                <a:latin typeface="+mn-lt"/>
              </a:rPr>
              <a:t>Purchases of PP&amp;E alone were $20.7B</a:t>
            </a:r>
            <a:endParaRPr sz="1400" b="0" i="0" u="none">
              <a:solidFill>
                <a:schemeClr val="dk1"/>
              </a:solidFill>
              <a:latin typeface="+mn-lt"/>
            </a:endParaRPr>
          </a:p>
        </p:txBody>
      </p:sp>
      <p:sp>
        <p:nvSpPr>
          <p:cNvPr id="14" name="TextBox 14"/>
          <p:cNvSpPr>
            <a:spLocks/>
          </p:cNvSpPr>
          <p:nvPr/>
        </p:nvSpPr>
        <p:spPr>
          <a:xfrm>
            <a:off x="8128000" y="4953000"/>
            <a:ext cx="3556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Net change includes a $63M exchange-rate effect.</a:t>
            </a:r>
            <a:endParaRPr sz="1100" b="0" i="0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15" name="TextBox 15"/>
          <p:cNvSpPr>
            <a:spLocks/>
          </p:cNvSpPr>
          <p:nvPr/>
        </p:nvSpPr>
        <p:spPr>
          <a:xfrm>
            <a:off x="508000" y="6121400"/>
            <a:ext cx="11176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Source: Acme S-1/A, consolidated statements of cash flows</a:t>
            </a:r>
            <a:endParaRPr sz="900" b="0" i="1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3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01962F80-41F8-4FFD-B1CB-4CA59F167652}" type="slidenum">
              <a:rPr lang="en-US"/>
              <a:t>‹#›</a:t>
            </a:fld>
            <a:endParaRPr lang="en-US"/>
          </a:p>
        </p:txBody>
      </p:sp>
    </p:spTree>
  </p:cSld>
</p:sld>
</file>

<file path=ppt/theme/theme1.xml><?xml version="1.0" encoding="utf-8"?>
<a:theme xmlns:thm15="http://schemas.microsoft.com/office/thememl/2012/main"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2026-07-21T23:11:46Z</dcterms:created>
  <dcterms:modified xsi:type="dcterms:W3CDTF">2026-07-21T23:11:58Z</dcterms:modified>
</cp:coreProperties>
</file>