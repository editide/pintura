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officeDocument" Target="ppt/presentation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ede929e31373429e"/>
    <p:sldId id="258" r:id="R7609ee0fda3543b9"/>
    <p:sldId id="259" r:id="R9b03bb61f13d4eca"/>
    <p:sldId id="260" r:id="Rff1f3bd5091a4faa"/>
    <p:sldId id="261" r:id="R4fcec321fc4d4473"/>
    <p:sldId id="262" r:id="Rc47144963c8f4b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FF75EB3-ABB8-4CD1-8A32-0256EBB70A98}">
          <p14:sldIdLst>
            <p14:sldId id="257"/>
          </p14:sldIdLst>
        </p14:section>
        <p14:section name="Full-year results" id="{0A83E073-CFC9-44CC-9410-B8AED0B1D8BD}">
          <p14:sldIdLst>
            <p14:sldId id="258"/>
            <p14:sldId id="259"/>
            <p14:sldId id="260"/>
            <p14:sldId id="261"/>
          </p14:sldIdLst>
        </p14:section>
        <p14:section name="First half of 2026" id="{C9E2DDCA-2852-425A-91A5-4E3F79BA8FA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de929e31373429e" /><Relationship Type="http://schemas.openxmlformats.org/officeDocument/2006/relationships/slide" Target="/ppt/slides/slide3.xml" Id="R7609ee0fda3543b9" /><Relationship Type="http://schemas.openxmlformats.org/officeDocument/2006/relationships/slide" Target="/ppt/slides/slide4.xml" Id="R9b03bb61f13d4eca" /><Relationship Type="http://schemas.openxmlformats.org/officeDocument/2006/relationships/slide" Target="/ppt/slides/slide5.xml" Id="Rff1f3bd5091a4faa" /><Relationship Type="http://schemas.openxmlformats.org/officeDocument/2006/relationships/slide" Target="/ppt/slides/slide6.xml" Id="R4fcec321fc4d4473" /><Relationship Type="http://schemas.openxmlformats.org/officeDocument/2006/relationships/slide" Target="/ppt/slides/slide7.xml" Id="Rc47144963c8f4b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3bd0a5217042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c8f7c4f47a46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c07497720e4cd2" /></Relationships>
</file>

<file path=ppt/slideLayouts/slideLayout2.xml><?xml version="1.0" encoding="utf-8"?>
<p:sldLayout xmlns:a="http://schemas.openxmlformats.org/drawingml/2006/main" xmlns:p="http://schemas.openxmlformats.org/presentationml/2006/main" preserve="1">
  <p:cSld name="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/>
          <p:cNvSpPr>
            <a:spLocks/>
          </p:cNvSpPr>
          <p:nvPr>
            <p:ph type="title" hasCustomPrompt="1"/>
          </p:nvPr>
        </p:nvSpPr>
        <p:spPr>
          <a:xfrm>
            <a:off x="508000" y="304800"/>
            <a:ext cx="11176000" cy="7112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>
              <a:buNone/>
              <a:defRPr/>
            </a:lvl1pPr>
          </a:lstStyle>
          <a:p>
            <a:r>
              <a:rPr/>
              <a:t>Title</a:t>
            </a:r>
          </a:p>
        </p:txBody>
      </p:sp>
      <p:sp>
        <p:nvSpPr>
          <p:cNvPr id="3" name="TextBox 3"/>
          <p:cNvSpPr>
            <a:spLocks/>
          </p:cNvSpPr>
          <p:nvPr>
            <p:ph type="sldNum" idx="12"/>
          </p:nvPr>
        </p:nvSpPr>
        <p:spPr>
          <a:xfrm>
            <a:off x="10922000" y="6451600"/>
            <a:ext cx="762000" cy="2794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fld id="{AC5A1E1C-B78F-4B5E-98DD-80D6E7CE0055}" type="slidenum">
              <a:rPr lang="en-US"/>
              <a:t>‹#›</a:t>
            </a:fld>
            <a:endParaRPr lang="en-US"/>
          </a:p>
        </p:txBody>
      </p:sp>
      <p:sp>
        <p:nvSpPr>
          <p:cNvPr id="4" name="TextBox 4"/>
          <p:cNvSpPr>
            <a:spLocks/>
          </p:cNvSpPr>
          <p:nvPr/>
        </p:nvSpPr>
        <p:spPr>
          <a:xfrm>
            <a:off x="508000" y="6451600"/>
            <a:ext cx="7620000" cy="2794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rPr>
              <a:t>Confidential. Prepared for board discussion.</a:t>
            </a:r>
            <a:endParaRPr sz="1100" b="0" i="0" u="none">
              <a:solidFill>
                <a:schemeClr val="dk1">
                  <a:lumMod val="50000"/>
                  <a:lumOff val="50000"/>
                </a:schemeClr>
              </a:solidFill>
              <a:latin typeface="+mn-lt"/>
            </a:endParaRPr>
          </a:p>
        </p:txBody>
      </p:sp>
    </p:spTree>
  </p:cSld>
  <p:clrMapOvr>
    <a:masterClrMapping xmlns:a="http://schemas.openxmlformats.org/drawingml/2006/main"/>
  </p:clrMapOvr>
  <p:hf hdr="0"/>
</p:sldLayout>
</file>

<file path=ppt/slideLayouts/slideLayout3.xml><?xml version="1.0" encoding="utf-8"?>
<p:sldLayout xmlns:a="http://schemas.openxmlformats.org/drawingml/2006/main" xmlns:p="http://schemas.openxmlformats.org/presentationml/2006/main" preserve="1">
  <p:cSld name="Se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/>
          <p:cNvSpPr>
            <a:spLocks/>
          </p:cNvSpPr>
          <p:nvPr>
            <p:ph type="title" hasCustomPrompt="1"/>
          </p:nvPr>
        </p:nvSpPr>
        <p:spPr>
          <a:xfrm>
            <a:off x="762000" y="2540000"/>
            <a:ext cx="10668000" cy="889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>
              <a:buNone/>
              <a:defRPr sz="4000"/>
            </a:lvl1pPr>
          </a:lstStyle>
          <a:p>
            <a:r>
              <a:rPr/>
              <a:t>Title</a:t>
            </a:r>
          </a:p>
        </p:txBody>
      </p:sp>
      <p:sp>
        <p:nvSpPr>
          <p:cNvPr id="3" name="TextBox 3"/>
          <p:cNvSpPr>
            <a:spLocks/>
          </p:cNvSpPr>
          <p:nvPr>
            <p:ph idx="1" hasCustomPrompt="1"/>
          </p:nvPr>
        </p:nvSpPr>
        <p:spPr>
          <a:xfrm>
            <a:off x="762000" y="3556000"/>
            <a:ext cx="10668000" cy="762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>
              <a:buNone/>
              <a:defRPr sz="1800">
                <a:solidFill>
                  <a:schemeClr val="dk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/>
              <a:t>summary</a:t>
            </a:r>
          </a:p>
        </p:txBody>
      </p:sp>
      <p:sp>
        <p:nvSpPr>
          <p:cNvPr id="4" name="TextBox 4"/>
          <p:cNvSpPr>
            <a:spLocks/>
          </p:cNvSpPr>
          <p:nvPr>
            <p:ph type="sldNum" idx="12"/>
          </p:nvPr>
        </p:nvSpPr>
        <p:spPr>
          <a:xfrm>
            <a:off x="10922000" y="6451600"/>
            <a:ext cx="762000" cy="2794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fld id="{C20A36E9-3485-421E-9543-C97008690941}" type="slidenum">
              <a:rPr lang="en-US"/>
              <a:t>‹#›</a:t>
            </a:fld>
            <a:endParaRPr lang="en-US"/>
          </a:p>
        </p:txBody>
      </p:sp>
      <p:sp>
        <p:nvSpPr>
          <p:cNvPr id="5" name="TextBox 5"/>
          <p:cNvSpPr>
            <a:spLocks/>
          </p:cNvSpPr>
          <p:nvPr/>
        </p:nvSpPr>
        <p:spPr>
          <a:xfrm>
            <a:off x="508000" y="6451600"/>
            <a:ext cx="7620000" cy="2794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rPr>
              <a:t>Confidential. Prepared for board discussion.</a:t>
            </a:r>
            <a:endParaRPr sz="1100" b="0" i="0" u="none">
              <a:solidFill>
                <a:schemeClr val="dk1">
                  <a:lumMod val="50000"/>
                  <a:lumOff val="50000"/>
                </a:schemeClr>
              </a:solidFill>
              <a:latin typeface="+mn-lt"/>
            </a:endParaRPr>
          </a:p>
        </p:txBody>
      </p:sp>
    </p:spTree>
  </p:cSld>
  <p:clrMapOvr>
    <a:masterClrMapping xmlns:a="http://schemas.openxmlformats.org/drawingml/2006/main"/>
  </p:clrMapOvr>
  <p:hf hdr="0"/>
</p:sldLayout>
</file>

<file path=ppt/slideLayouts/slideLayout4.xml><?xml version="1.0" encoding="utf-8"?>
<p:sldLayout xmlns:a="http://schemas.openxmlformats.org/drawingml/2006/main" xmlns:p="http://schemas.openxmlformats.org/presentationml/2006/main" preserve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/>
          <p:cNvSpPr>
            <a:spLocks/>
          </p:cNvSpPr>
          <p:nvPr>
            <p:ph type="title" hasCustomPrompt="1"/>
          </p:nvPr>
        </p:nvSpPr>
        <p:spPr>
          <a:xfrm>
            <a:off x="762000" y="2286000"/>
            <a:ext cx="10668000" cy="1143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ctr">
              <a:buNone/>
              <a:defRPr sz="4000"/>
            </a:lvl1pPr>
          </a:lstStyle>
          <a:p>
            <a:r>
              <a:rPr/>
              <a:t>Title</a:t>
            </a:r>
          </a:p>
        </p:txBody>
      </p:sp>
      <p:sp>
        <p:nvSpPr>
          <p:cNvPr id="3" name="TextBox 3"/>
          <p:cNvSpPr>
            <a:spLocks/>
          </p:cNvSpPr>
          <p:nvPr>
            <p:ph idx="1" hasCustomPrompt="1"/>
          </p:nvPr>
        </p:nvSpPr>
        <p:spPr>
          <a:xfrm>
            <a:off x="762000" y="3556000"/>
            <a:ext cx="10668000" cy="508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ctr">
              <a:buNone/>
              <a:defRPr sz="1800">
                <a:solidFill>
                  <a:schemeClr val="dk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/>
              <a:t>subtitle</a:t>
            </a:r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../theme/theme1.xml" Id="rId12" /><Relationship Type="http://schemas.openxmlformats.org/officeDocument/2006/relationships/slideLayout" Target="/ppt/slideLayouts/slideLayout2.xml" Id="R0a643ba796b34f2d" /><Relationship Type="http://schemas.openxmlformats.org/officeDocument/2006/relationships/slideLayout" Target="/ppt/slideLayouts/slideLayout3.xml" Id="R478e205a42a64618" /><Relationship Type="http://schemas.openxmlformats.org/officeDocument/2006/relationships/slideLayout" Target="/ppt/slideLayouts/slideLayout4.xml" Id="R68b529be597b40bd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2DC98E-7245-506C-4DA3-0445A9E66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2EE9F-CC31-DF39-A062-B2B15B63B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7E38B-7287-F4F9-DAB0-D29023A03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CAA507-60AD-4984-B2C6-F019B10A8FA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E9552-342F-9B46-5A56-D78EBE59D5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3C071-B40B-CD92-E682-4B644211F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E72529-519C-4CBA-8A8F-900AA2683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3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0a643ba796b34f2d"/>
    <p:sldLayoutId id="2147483651" r:id="R478e205a42a64618"/>
    <p:sldLayoutId id="2147483652" r:id="R68b529be597b40bd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kern="1200">
          <a:solidFill>
            <a:schemeClr val="dk1"/>
          </a:solidFill>
          <a:latin typeface="+mj-lt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600" b="0" i="0" u="none" kern="1200">
          <a:solidFill>
            <a:schemeClr val="dk1"/>
          </a:solidFill>
          <a:latin typeface="+mn-lt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/>
        <a:buChar char="•"/>
        <a:defRPr sz="1600" b="0" i="0" u="none" kern="1200">
          <a:solidFill>
            <a:schemeClr val="dk1"/>
          </a:solidFill>
          <a:latin typeface="+mn-lt"/>
        </a:defRPr>
      </a:lvl2pPr>
      <a:lvl3pPr marL="457200" indent="-2286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Arial" panose="020B0604020202020204" pitchFamily="34" charset="0"/>
        <a:buChar char="–"/>
        <a:defRPr sz="1400" b="0" i="0" u="none" kern="1200">
          <a:solidFill>
            <a:schemeClr val="dk1"/>
          </a:solidFill>
          <a:latin typeface="+mn-lt"/>
        </a:defRPr>
      </a:lvl3pPr>
      <a:lvl4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/>
        <a:buChar char="•"/>
        <a:defRPr sz="1200" b="0" i="0" u="none" kern="1200">
          <a:solidFill>
            <a:schemeClr val="dk1"/>
          </a:solidFill>
          <a:latin typeface="+mn-lt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600" b="0" i="0" u="none" kern="1200">
          <a:solidFill>
            <a:schemeClr val="dk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e8e664d16044d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111ebce877044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9fd774330344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654891e7eb4451" /><Relationship Type="http://schemas.openxmlformats.org/officeDocument/2006/relationships/chart" Target="/ppt/slides/charts/chart1.xml" Id="R51b75e527c8544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1ef909221240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a421b28cc647c1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6c583b100cde4ccf" /></Relationships>
</file>

<file path=ppt/slides/charts/chart1.xml><?xml version="1.0" encoding="utf-8"?>
<c:chartSpace xmlns:c="http://schemas.openxmlformats.org/drawingml/2006/chart"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Space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</c:spPr>
          <c:invertIfNegative val="0"/>
          <c:dLbls>
            <c:numFmt formatCode="&quot;$&quot;#,##0.0,&quot;B&quot;;(&quot;$&quot;#,##0.0,&quot;B&quot;)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rot="0" spcFirstLastPara="1" vertOverflow="ellipsis" vert="horz" wrap="square" lIns="38100" tIns="19050" rIns="38100" bIns="19050" anchor="ctr" anchorCtr="1">
                <a:spAutoFit/>
              </a:bodyPr>
              <a:lstStyle xmlns:a="http://schemas.openxmlformats.org/drawingml/2006/main"/>
              <a:p xmlns:a="http://schemas.openxmlformats.org/drawingml/2006/main">
                <a:pPr>
                  <a:defRPr sz="1100" b="0" i="0" u="none" strike="noStrike" kern="1200" baseline="0">
                    <a:solidFill>
                      <a:schemeClr val="dk1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997</c:v>
                </c:pt>
                <c:pt idx="1">
                  <c:v>1154</c:v>
                </c:pt>
                <c:pt idx="2">
                  <c:v>653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Connectivity</c:v>
                </c:pt>
              </c:strCache>
            </c:strRef>
          </c:tx>
          <c:spPr>
            <a:solidFill xmlns:a="http://schemas.openxmlformats.org/drawingml/2006/main">
              <a:schemeClr val="accent2"/>
            </a:solidFill>
          </c:spPr>
          <c:invertIfNegative val="0"/>
          <c:dLbls>
            <c:numFmt formatCode="&quot;$&quot;#,##0.0,&quot;B&quot;;(&quot;$&quot;#,##0.0,&quot;B&quot;)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rot="0" spcFirstLastPara="1" vertOverflow="ellipsis" vert="horz" wrap="square" lIns="38100" tIns="19050" rIns="38100" bIns="19050" anchor="ctr" anchorCtr="1">
                <a:spAutoFit/>
              </a:bodyPr>
              <a:lstStyle xmlns:a="http://schemas.openxmlformats.org/drawingml/2006/main"/>
              <a:p xmlns:a="http://schemas.openxmlformats.org/drawingml/2006/main">
                <a:pPr>
                  <a:defRPr sz="1100" b="0" i="0" u="none" strike="noStrike" kern="1200" baseline="0">
                    <a:solidFill>
                      <a:schemeClr val="dk1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1602</c:v>
                </c:pt>
                <c:pt idx="1">
                  <c:v>3849</c:v>
                </c:pt>
                <c:pt idx="2">
                  <c:v>7168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AI</c:v>
                </c:pt>
              </c:strCache>
            </c:strRef>
          </c:tx>
          <c:spPr>
            <a:solidFill xmlns:a="http://schemas.openxmlformats.org/drawingml/2006/main">
              <a:schemeClr val="accent3"/>
            </a:solidFill>
          </c:spPr>
          <c:invertIfNegative val="0"/>
          <c:dLbls>
            <c:numFmt formatCode="&quot;$&quot;#,##0.0,&quot;B&quot;;(&quot;$&quot;#,##0.0,&quot;B&quot;)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rot="0" spcFirstLastPara="1" vertOverflow="ellipsis" vert="horz" wrap="square" lIns="38100" tIns="19050" rIns="38100" bIns="19050" anchor="ctr" anchorCtr="1">
                <a:spAutoFit/>
              </a:bodyPr>
              <a:lstStyle xmlns:a="http://schemas.openxmlformats.org/drawingml/2006/main"/>
              <a:p xmlns:a="http://schemas.openxmlformats.org/drawingml/2006/main">
                <a:pPr>
                  <a:defRPr sz="1100" b="0" i="0" u="none" strike="noStrike" kern="1200" baseline="0">
                    <a:solidFill>
                      <a:schemeClr val="dk1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1222</c:v>
                </c:pt>
                <c:pt idx="1">
                  <c:v>347</c:v>
                </c:pt>
                <c:pt idx="2">
                  <c:v>-1237</c:v>
                </c:pt>
              </c:numCache>
            </c:numRef>
          </c:val>
        </c:ser>
        <c:gapWidth val="80"/>
        <c:overlap val="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noFill xmlns:a="http://schemas.openxmlformats.org/drawingml/2006/main"/>
          <a:ln xmlns:a="http://schemas.openxmlformats.org/drawingml/2006/main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/>
          <a:p xmlns:a="http://schemas.openxmlformats.org/drawingml/2006/main">
            <a:pPr>
              <a:defRPr sz="1100" b="0">
                <a:solidFill>
                  <a:schemeClr val="dk1"/>
                </a:solidFill>
                <a:latin typeface="+mn-lt"/>
              </a:defRPr>
            </a:pPr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8000"/>
          <c:min val="-2000"/>
        </c:scaling>
        <c:delete val="0"/>
        <c:axPos val="l"/>
        <c:majorGridlines>
          <c:spPr>
            <a:ln xmlns:a="http://schemas.openxmlformats.org/drawingml/2006/main">
              <a:solidFill>
                <a:schemeClr val="tx1">
                  <a:lumMod val="15000"/>
                  <a:lumOff val="85000"/>
                </a:schemeClr>
              </a:solidFill>
            </a:ln>
          </c:spPr>
        </c:majorGridlines>
        <c:numFmt formatCode="&quot;$&quot;#,##0.0,&quot;B&quot;;(&quot;$&quot;#,##0.0,&quot;B&quot;)" sourceLinked="0"/>
        <c:majorTickMark val="none"/>
        <c:minorTickMark val="none"/>
        <c:tickLblPos val="nextTo"/>
        <c:spPr>
          <a:noFill xmlns:a="http://schemas.openxmlformats.org/drawingml/2006/main"/>
          <a:ln xmlns:a="http://schemas.openxmlformats.org/drawingml/2006/main">
            <a:noFill/>
          </a:ln>
        </c:spPr>
        <c:txPr>
          <a:bodyPr xmlns:a="http://schemas.openxmlformats.org/drawingml/2006/main"/>
          <a:p xmlns:a="http://schemas.openxmlformats.org/drawingml/2006/main">
            <a:pPr>
              <a:defRPr sz="1100" b="0">
                <a:solidFill>
                  <a:schemeClr val="dk1"/>
                </a:solidFill>
                <a:latin typeface="+mn-lt"/>
              </a:defRPr>
            </a:pPr>
          </a:p>
        </c:txPr>
        <c:crossAx val="111111111"/>
        <c:crosses val="autoZero"/>
        <c:crossBetween val="between"/>
        <c:majorUnit val="1000"/>
      </c:valAx>
    </c:plotArea>
    <c:legend>
      <c:legendPos val="b"/>
      <c:overlay val="0"/>
      <c:txPr>
        <a:bodyPr xmlns:a="http://schemas.openxmlformats.org/drawingml/2006/main"/>
        <a:p xmlns:a="http://schemas.openxmlformats.org/drawingml/2006/main">
          <a:pPr>
            <a:defRPr sz="1100" b="0">
              <a:solidFill>
                <a:schemeClr val="dk1"/>
              </a:solidFill>
              <a:latin typeface="+mn-lt"/>
            </a:defRPr>
          </a:pPr>
        </a:p>
      </c:txPr>
    </c:legend>
    <c:plotVisOnly val="1"/>
    <c:dispBlanksAs val="gap"/>
  </c:chart>
  <c:externalData xmlns:r="http://schemas.openxmlformats.org/officeDocument/2006/relationships" r:id="R6c583b100cde4ccf">
    <c:autoUpdate val="0"/>
  </c:externalData>
</c:chartSpace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ctr">
              <a:buNone/>
              <a:defRPr sz="4000"/>
            </a:lvl1pPr>
          </a:lstStyle>
          <a:p>
            <a:r>
              <a:rPr/>
              <a:t>Acme financial results</a:t>
            </a:r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ctr">
              <a:buNone/>
              <a:defRPr sz="1800">
                <a:solidFill>
                  <a:schemeClr val="dk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/>
              <a:t>Board update, </a:t>
            </a:r>
            <a:r>
              <a:rPr/>
              <a:t>September 28, 2026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 sz="4000"/>
            </a:lvl1pPr>
          </a:lstStyle>
          <a:p>
            <a:r>
              <a:rPr/>
              <a:t>Full-year results</a:t>
            </a:r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 sz="1800">
                <a:solidFill>
                  <a:schemeClr val="dk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/>
              <a:t>Fiscal years 2023 to 2025, from the S-1/A filed June 3, 2026</a:t>
            </a:r>
          </a:p>
        </p:txBody>
      </p:sp>
      <p:sp>
        <p:nvSpPr>
          <p:cNvPr id="4" name="Slide Number"/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 xmlns:a="http://schemas.openxmlformats.org/drawingml/2006/main">
            <a:fld id="{C20A36E9-3485-421E-9543-C97008690941}" type="slidenum">
              <a:rPr lang="en-US"/>
              <a:t>‹#›</a:t>
            </a:fld>
            <a:endParaRPr lang="en-US"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/>
            </a:lvl1pPr>
          </a:lstStyle>
          <a:p>
            <a:r>
              <a:rPr/>
              <a:t>Revenue rose $4.7B in 2025 while costs rose $7.7B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508000" y="1270000"/>
          <a:ext cx="11176000" cy="2743200"/>
        </p:xfrm>
        <a:graphic>
          <a:graphicData uri="http://schemas.openxmlformats.org/drawingml/2006/table">
            <a:tbl>
              <a:tblPr firstRow="1" bandRow="0"/>
              <a:tblGrid>
                <a:gridCol w="5080000"/>
                <a:gridCol w="2032000"/>
                <a:gridCol w="2032000"/>
                <a:gridCol w="2032000"/>
              </a:tblGrid>
              <a:tr h="0">
                <a:tc rowSpan="2"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USD millions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Fiscal year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/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/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/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2023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2024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2025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Revenue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10,387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14,015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18,674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Cost of revenue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6,110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7,996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9,451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>
                        <a:lumMod val="50000"/>
                        <a:lumOff val="5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Research and development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2,105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3,464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8,643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Selling, general and administrative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1,665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1,813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2,644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>
                        <a:lumMod val="50000"/>
                        <a:lumOff val="5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Restructuring charges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237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213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487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Impairment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lt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3,775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lt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63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lt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38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lt2">
                        <a:lumMod val="50000"/>
                        <a:lumOff val="5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Total costs and expenses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13,892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13,549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21,263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Operating income (loss)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254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rgbClr val="C00000"/>
                          </a:solidFill>
                          <a:latin typeface="+mn-lt"/>
                        </a:rPr>
                        <a:t>(3,505)</a:t>
                      </a:r>
                      <a:endParaRPr sz="1600" b="1" i="0" u="none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254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466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254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rgbClr val="C00000"/>
                          </a:solidFill>
                          <a:latin typeface="+mn-lt"/>
                        </a:rPr>
                        <a:t>(2,589)</a:t>
                      </a:r>
                      <a:endParaRPr sz="1600" b="1" i="0" u="none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25400" cmpd="sng">
                      <a:solidFill>
                        <a:schemeClr val="dk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5"/>
          <p:cNvSpPr>
            <a:spLocks/>
          </p:cNvSpPr>
          <p:nvPr/>
        </p:nvSpPr>
        <p:spPr>
          <a:xfrm>
            <a:off x="508000" y="6121400"/>
            <a:ext cx="7620000" cy="254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rPr>
              <a:t>Source: Acme S-1/A, consolidated statements of operations. USD millions.</a:t>
            </a:r>
            <a:endParaRPr sz="900" b="0" i="1" u="none">
              <a:solidFill>
                <a:schemeClr val="dk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3" name="Slide Number"/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 xmlns:a="http://schemas.openxmlformats.org/drawingml/2006/main">
            <a:fld id="{AC5A1E1C-B78F-4B5E-98DD-80D6E7CE0055}" type="slidenum">
              <a:rPr lang="en-US"/>
              <a:t>‹#›</a:t>
            </a:fld>
            <a:endParaRPr lang="en-US"/>
          </a:p>
        </p:txBody>
      </p:sp>
    </p:spTree>
  </p:cSld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/>
            </a:lvl1pPr>
          </a:lstStyle>
          <a:p>
            <a:r>
              <a:rPr/>
              <a:t>Connectivity carries adjusted EBITDA as AI turns negative</a:t>
            </a:r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508000" y="1270000"/>
          <a:ext cx="5461000" cy="4826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51b75e527c85448e"/>
          </a:graphicData>
        </a:graphic>
      </p:graphicFrame>
      <p:sp>
        <p:nvSpPr>
          <p:cNvPr id="5" name="TextBox 5"/>
          <p:cNvSpPr>
            <a:spLocks/>
          </p:cNvSpPr>
          <p:nvPr/>
        </p:nvSpPr>
        <p:spPr>
          <a:xfrm>
            <a:off x="6223000" y="1270000"/>
            <a:ext cx="5461000" cy="4826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1" i="0" u="none">
                <a:solidFill>
                  <a:schemeClr val="dk1"/>
                </a:solidFill>
                <a:latin typeface="+mn-lt"/>
              </a:rPr>
              <a:t>Adjusted EBITDA of $6.6B in 2025, from $3.8B in 2023</a:t>
            </a:r>
            <a:endParaRPr sz="1800" b="1" i="0" u="none">
              <a:solidFill>
                <a:schemeClr val="dk1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Connectivity: </a:t>
            </a:r>
            <a:r>
              <a:rPr sz="1600" b="1" i="0" u="none">
                <a:solidFill>
                  <a:schemeClr val="accent1"/>
                </a:solidFill>
                <a:latin typeface="+mn-lt"/>
              </a:rPr>
              <a:t>$7.2B</a:t>
            </a:r>
            <a:r>
              <a:rPr sz="1600" b="0" i="0" u="none">
                <a:solidFill>
                  <a:schemeClr val="dk1"/>
                </a:solidFill>
                <a:latin typeface="+mn-lt"/>
              </a:rPr>
              <a:t>, from $1.6B in 2023</a:t>
            </a:r>
            <a:endParaRPr sz="1600" b="0" i="0" u="none">
              <a:solidFill>
                <a:schemeClr val="dk1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Space: $0.7B, down from $1.2B in 2024</a:t>
            </a:r>
            <a:endParaRPr sz="1600" b="0" i="0" u="none">
              <a:solidFill>
                <a:schemeClr val="dk1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AI: </a:t>
            </a:r>
            <a:r>
              <a:rPr sz="1600" b="0" i="0" u="none">
                <a:solidFill>
                  <a:srgbClr val="C00000"/>
                </a:solidFill>
                <a:latin typeface="+mn-lt"/>
              </a:rPr>
              <a:t>–$1.2B</a:t>
            </a:r>
            <a:r>
              <a:rPr sz="1600" b="0" i="0" u="none">
                <a:solidFill>
                  <a:schemeClr val="dk1"/>
                </a:solidFill>
                <a:latin typeface="+mn-lt"/>
              </a:rPr>
              <a:t>, from $1.2B in 2023</a:t>
            </a:r>
            <a:endParaRPr sz="1600" b="0" i="0" u="none">
              <a:solidFill>
                <a:schemeClr val="dk1"/>
              </a:solidFill>
              <a:latin typeface="+mn-lt"/>
            </a:endParaRPr>
          </a:p>
        </p:txBody>
      </p:sp>
      <p:sp>
        <p:nvSpPr>
          <p:cNvPr id="6" name="TextBox 6"/>
          <p:cNvSpPr>
            <a:spLocks/>
          </p:cNvSpPr>
          <p:nvPr/>
        </p:nvSpPr>
        <p:spPr>
          <a:xfrm>
            <a:off x="508000" y="6121400"/>
            <a:ext cx="5461000" cy="254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rPr>
              <a:t>Source: Acme S-1/A, segment adjusted EBITDA.</a:t>
            </a:r>
            <a:endParaRPr sz="900" b="0" i="1" u="none">
              <a:solidFill>
                <a:schemeClr val="dk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3" name="Slide Number"/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 xmlns:a="http://schemas.openxmlformats.org/drawingml/2006/main">
            <a:fld id="{AC5A1E1C-B78F-4B5E-98DD-80D6E7CE0055}" type="slidenum">
              <a:rPr lang="en-US"/>
              <a:t>‹#›</a:t>
            </a:fld>
            <a:endParaRPr lang="en-US"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/>
            </a:lvl1pPr>
          </a:lstStyle>
          <a:p>
            <a:r>
              <a:rPr/>
              <a:t>Connectivity profit did not cover AI losses in 2025</a:t>
            </a:r>
          </a:p>
        </p:txBody>
      </p:sp>
      <p:sp>
        <p:nvSpPr>
          <p:cNvPr id="7" name="TextBox 7"/>
          <p:cNvSpPr>
            <a:spLocks/>
          </p:cNvSpPr>
          <p:nvPr/>
        </p:nvSpPr>
        <p:spPr>
          <a:xfrm>
            <a:off x="508000" y="1524000"/>
            <a:ext cx="3302000" cy="889000"/>
          </a:xfrm>
          <a:prstGeom prst="roundRect">
            <a:avLst>
              <a:gd name="adj" fmla="val 11429"/>
            </a:avLst>
          </a:prstGeom>
          <a:solidFill>
            <a:schemeClr val="accent3">
              <a:lumMod val="40000"/>
              <a:lumOff val="60000"/>
            </a:schemeClr>
          </a:solidFill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chemeClr val="dk1"/>
                </a:solidFill>
                <a:latin typeface="+mn-lt"/>
              </a:rPr>
              <a:t>Space</a:t>
            </a:r>
            <a:endParaRPr sz="1600" b="1" i="0" u="none">
              <a:solidFill>
                <a:schemeClr val="dk1"/>
              </a:solidFill>
              <a:latin typeface="+mn-lt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>
                <a:solidFill>
                  <a:srgbClr val="C00000"/>
                </a:solidFill>
                <a:latin typeface="+mn-lt"/>
              </a:rPr>
              <a:t>–$0.7B</a:t>
            </a:r>
            <a:endParaRPr sz="1600" b="0" i="0" u="none">
              <a:solidFill>
                <a:srgbClr val="C00000"/>
              </a:solidFill>
              <a:latin typeface="+mn-lt"/>
            </a:endParaRPr>
          </a:p>
        </p:txBody>
      </p:sp>
      <p:sp>
        <p:nvSpPr>
          <p:cNvPr id="8" name="TextBox 8"/>
          <p:cNvSpPr>
            <a:spLocks/>
          </p:cNvSpPr>
          <p:nvPr/>
        </p:nvSpPr>
        <p:spPr>
          <a:xfrm>
            <a:off x="508000" y="2794000"/>
            <a:ext cx="3302000" cy="88900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chemeClr val="lt1"/>
                </a:solidFill>
                <a:latin typeface="+mn-lt"/>
              </a:rPr>
              <a:t>Connectivity</a:t>
            </a:r>
            <a:endParaRPr sz="1600" b="1" i="0" u="none">
              <a:solidFill>
                <a:schemeClr val="lt1"/>
              </a:solidFill>
              <a:latin typeface="+mn-lt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>
                <a:solidFill>
                  <a:schemeClr val="lt1"/>
                </a:solidFill>
                <a:latin typeface="+mn-lt"/>
              </a:rPr>
              <a:t>$4.4B</a:t>
            </a:r>
            <a:endParaRPr sz="1600" b="0" i="0" u="none">
              <a:solidFill>
                <a:schemeClr val="lt1"/>
              </a:solidFill>
              <a:latin typeface="+mn-lt"/>
            </a:endParaRPr>
          </a:p>
        </p:txBody>
      </p:sp>
      <p:sp>
        <p:nvSpPr>
          <p:cNvPr id="9" name="TextBox 9"/>
          <p:cNvSpPr>
            <a:spLocks/>
          </p:cNvSpPr>
          <p:nvPr/>
        </p:nvSpPr>
        <p:spPr>
          <a:xfrm>
            <a:off x="508000" y="4064000"/>
            <a:ext cx="3302000" cy="889000"/>
          </a:xfrm>
          <a:prstGeom prst="roundRect">
            <a:avLst>
              <a:gd name="adj" fmla="val 11429"/>
            </a:avLst>
          </a:prstGeom>
          <a:solidFill>
            <a:schemeClr val="accent3">
              <a:lumMod val="40000"/>
              <a:lumOff val="60000"/>
            </a:schemeClr>
          </a:solidFill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chemeClr val="dk1"/>
                </a:solidFill>
                <a:latin typeface="+mn-lt"/>
              </a:rPr>
              <a:t>AI</a:t>
            </a:r>
            <a:endParaRPr sz="1600" b="1" i="0" u="none">
              <a:solidFill>
                <a:schemeClr val="dk1"/>
              </a:solidFill>
              <a:latin typeface="+mn-lt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>
                <a:solidFill>
                  <a:srgbClr val="C00000"/>
                </a:solidFill>
                <a:latin typeface="+mn-lt"/>
              </a:rPr>
              <a:t>–$6.4B</a:t>
            </a:r>
            <a:endParaRPr sz="1600" b="0" i="0" u="none">
              <a:solidFill>
                <a:srgbClr val="C00000"/>
              </a:solidFill>
              <a:latin typeface="+mn-lt"/>
            </a:endParaRPr>
          </a:p>
        </p:txBody>
      </p:sp>
      <p:sp>
        <p:nvSpPr>
          <p:cNvPr id="4" name="Shape 4"/>
          <p:cNvSpPr>
            <a:spLocks/>
          </p:cNvSpPr>
          <p:nvPr/>
        </p:nvSpPr>
        <p:spPr>
          <a:xfrm>
            <a:off x="3937000" y="1968500"/>
            <a:ext cx="3556000" cy="1143000"/>
          </a:xfrm>
          <a:prstGeom prst="line">
            <a:avLst/>
          </a:prstGeom>
          <a:ln w="19050">
            <a:solidFill>
              <a:schemeClr val="dk1">
                <a:lumMod val="50000"/>
                <a:lumOff val="50000"/>
              </a:schemeClr>
            </a:solidFill>
            <a:headEnd type="oval"/>
            <a:tailEnd type="triangle"/>
          </a:ln>
        </p:spPr>
      </p:sp>
      <p:sp>
        <p:nvSpPr>
          <p:cNvPr id="5" name="Shape 5"/>
          <p:cNvSpPr>
            <a:spLocks/>
          </p:cNvSpPr>
          <p:nvPr/>
        </p:nvSpPr>
        <p:spPr>
          <a:xfrm>
            <a:off x="3937000" y="3238500"/>
            <a:ext cx="3556000" cy="0"/>
          </a:xfrm>
          <a:prstGeom prst="line">
            <a:avLst/>
          </a:prstGeom>
          <a:ln w="31750">
            <a:solidFill>
              <a:schemeClr val="accent1"/>
            </a:solidFill>
            <a:headEnd type="oval"/>
            <a:tailEnd type="triangle"/>
          </a:ln>
        </p:spPr>
      </p:sp>
      <p:sp>
        <p:nvSpPr>
          <p:cNvPr id="6" name="Shape 6"/>
          <p:cNvSpPr>
            <a:spLocks/>
          </p:cNvSpPr>
          <p:nvPr/>
        </p:nvSpPr>
        <p:spPr>
          <a:xfrm flipV="1">
            <a:off x="3937000" y="3365500"/>
            <a:ext cx="3556000" cy="1143000"/>
          </a:xfrm>
          <a:prstGeom prst="line">
            <a:avLst/>
          </a:prstGeom>
          <a:ln w="19050">
            <a:solidFill>
              <a:srgbClr val="C00000"/>
            </a:solidFill>
            <a:prstDash val="dash"/>
            <a:headEnd type="oval"/>
            <a:tailEnd type="stealth"/>
          </a:ln>
        </p:spPr>
      </p:sp>
      <p:sp>
        <p:nvSpPr>
          <p:cNvPr id="10" name="TextBox 10"/>
          <p:cNvSpPr>
            <a:spLocks/>
          </p:cNvSpPr>
          <p:nvPr/>
        </p:nvSpPr>
        <p:spPr>
          <a:xfrm>
            <a:off x="7620000" y="2540000"/>
            <a:ext cx="4064000" cy="1397000"/>
          </a:xfrm>
          <a:prstGeom prst="hexagon">
            <a:avLst/>
          </a:prstGeom>
          <a:solidFill>
            <a:schemeClr val="lt2"/>
          </a:solidFill>
          <a:ln w="12700">
            <a:solidFill>
              <a:schemeClr val="dk1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chemeClr val="dk1"/>
                </a:solidFill>
                <a:latin typeface="+mn-lt"/>
              </a:rPr>
              <a:t>Operating loss</a:t>
            </a:r>
            <a:endParaRPr sz="1600" b="1" i="0" u="none">
              <a:solidFill>
                <a:schemeClr val="dk1"/>
              </a:solidFill>
              <a:latin typeface="+mn-lt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>
                <a:solidFill>
                  <a:srgbClr val="C00000"/>
                </a:solidFill>
                <a:latin typeface="+mn-lt"/>
              </a:rPr>
              <a:t>–$2.6B</a:t>
            </a:r>
            <a:endParaRPr sz="2400" b="0" i="0" u="none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1" name="TextBox 11"/>
          <p:cNvSpPr>
            <a:spLocks/>
          </p:cNvSpPr>
          <p:nvPr/>
        </p:nvSpPr>
        <p:spPr>
          <a:xfrm>
            <a:off x="508000" y="6121400"/>
            <a:ext cx="7620000" cy="254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rPr>
              <a:t>Source: Acme S-1/A, reportable segments, fiscal 2025 operating income (loss).</a:t>
            </a:r>
            <a:endParaRPr sz="900" b="0" i="1" u="none">
              <a:solidFill>
                <a:schemeClr val="dk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3" name="Slide Number"/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 xmlns:a="http://schemas.openxmlformats.org/drawingml/2006/main">
            <a:fld id="{AC5A1E1C-B78F-4B5E-98DD-80D6E7CE0055}" type="slidenum">
              <a:rPr lang="en-US"/>
              <a:t>‹#›</a:t>
            </a:fld>
            <a:endParaRPr lang="en-US"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/>
            </a:lvl1pPr>
          </a:lstStyle>
          <a:p>
            <a:r>
              <a:rPr/>
              <a:t>First-half revenue rose to $12.5B as losses widened</a:t>
            </a:r>
          </a:p>
        </p:txBody>
      </p:sp>
      <p:sp>
        <p:nvSpPr>
          <p:cNvPr id="4" name="TextBox 4"/>
          <p:cNvSpPr>
            <a:spLocks/>
          </p:cNvSpPr>
          <p:nvPr/>
        </p:nvSpPr>
        <p:spPr>
          <a:xfrm>
            <a:off x="508000" y="1270000"/>
            <a:ext cx="5461000" cy="4826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1" i="0" u="none">
                <a:solidFill>
                  <a:schemeClr val="dk1"/>
                </a:solidFill>
                <a:latin typeface="+mn-lt"/>
              </a:rPr>
              <a:t>First half of 2025</a:t>
            </a:r>
            <a:endParaRPr sz="1800" b="1" i="0" u="none">
              <a:solidFill>
                <a:schemeClr val="dk1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Revenue: $8.1B</a:t>
            </a:r>
            <a:endParaRPr sz="1600" b="0" i="0" u="none">
              <a:solidFill>
                <a:schemeClr val="dk1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Research and development: $3.5B</a:t>
            </a:r>
            <a:endParaRPr sz="1600" b="0" i="0" u="none">
              <a:solidFill>
                <a:schemeClr val="dk1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Operating loss: $0.9B</a:t>
            </a:r>
            <a:endParaRPr sz="1600" b="0" i="0" u="none">
              <a:solidFill>
                <a:schemeClr val="dk1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Net loss: $1.5B</a:t>
            </a:r>
            <a:endParaRPr sz="1600" b="0" i="0" u="none">
              <a:solidFill>
                <a:schemeClr val="dk1"/>
              </a:solidFill>
              <a:latin typeface="+mn-lt"/>
            </a:endParaRPr>
          </a:p>
        </p:txBody>
      </p:sp>
      <p:sp>
        <p:nvSpPr>
          <p:cNvPr id="5" name="TextBox 5"/>
          <p:cNvSpPr>
            <a:spLocks/>
          </p:cNvSpPr>
          <p:nvPr/>
        </p:nvSpPr>
        <p:spPr>
          <a:xfrm>
            <a:off x="6223000" y="1270000"/>
            <a:ext cx="5461000" cy="4826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1" i="0" u="none">
                <a:solidFill>
                  <a:schemeClr val="dk1"/>
                </a:solidFill>
                <a:latin typeface="+mn-lt"/>
              </a:rPr>
              <a:t>First half of 2026</a:t>
            </a:r>
            <a:endParaRPr sz="1800" b="1" i="0" u="none">
              <a:solidFill>
                <a:schemeClr val="dk1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Revenue: </a:t>
            </a: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+mn-lt"/>
              </a:rPr>
              <a:t>$12.5B</a:t>
            </a:r>
            <a:endParaRPr sz="1600" b="0" i="0" u="none">
              <a:solidFill>
                <a:schemeClr val="accent6">
                  <a:lumMod val="75000"/>
                </a:schemeClr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Research and development: $7.1B</a:t>
            </a:r>
            <a:endParaRPr sz="1600" b="0" i="0" u="none">
              <a:solidFill>
                <a:schemeClr val="accent6">
                  <a:lumMod val="75000"/>
                </a:schemeClr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Operating loss: </a:t>
            </a:r>
            <a:r>
              <a:rPr sz="1600" b="0" i="0" u="none">
                <a:solidFill>
                  <a:srgbClr val="C00000"/>
                </a:solidFill>
                <a:latin typeface="+mn-lt"/>
              </a:rPr>
              <a:t>$2.1B</a:t>
            </a:r>
            <a:endParaRPr sz="1600" b="0" i="0" u="none">
              <a:solidFill>
                <a:srgbClr val="C00000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Net loss: </a:t>
            </a:r>
            <a:r>
              <a:rPr sz="1600" b="0" i="0" u="none">
                <a:solidFill>
                  <a:srgbClr val="C00000"/>
                </a:solidFill>
                <a:latin typeface="+mn-lt"/>
              </a:rPr>
              <a:t>$4.8B</a:t>
            </a:r>
            <a:endParaRPr sz="1600" b="0" i="0" u="none">
              <a:solidFill>
                <a:srgbClr val="C00000"/>
              </a:solidFill>
              <a:latin typeface="+mn-lt"/>
            </a:endParaRPr>
          </a:p>
        </p:txBody>
      </p:sp>
      <p:sp>
        <p:nvSpPr>
          <p:cNvPr id="6" name="TextBox 6"/>
          <p:cNvSpPr>
            <a:spLocks/>
          </p:cNvSpPr>
          <p:nvPr/>
        </p:nvSpPr>
        <p:spPr>
          <a:xfrm>
            <a:off x="508000" y="6121400"/>
            <a:ext cx="7620000" cy="254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rPr>
              <a:t>Source: Acme 10-Q filed August 4, 2026, consolidated statements of operations.</a:t>
            </a:r>
            <a:endParaRPr sz="900" b="0" i="1" u="none">
              <a:solidFill>
                <a:schemeClr val="dk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3" name="Slide Number"/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 xmlns:a="http://schemas.openxmlformats.org/drawingml/2006/main">
            <a:fld id="{AC5A1E1C-B78F-4B5E-98DD-80D6E7CE0055}" type="slidenum">
              <a:rPr lang="en-US"/>
              <a:t>‹#›</a:t>
            </a:fld>
            <a:endParaRPr lang="en-US"/>
          </a:p>
        </p:txBody>
      </p:sp>
    </p:spTree>
  </p:cSld>
</p:sld>
</file>

<file path=ppt/theme/theme1.xml><?xml version="1.0" encoding="utf-8"?>
<a:theme xmlns:thm15="http://schemas.microsoft.com/office/thememl/2012/main" xmlns:a="http://schemas.openxmlformats.org/drawingml/2006/main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Board Update</dc:title>
  <dcterms:created xsi:type="dcterms:W3CDTF">2026-10-21T21:41:19Z</dcterms:created>
  <dcterms:modified xsi:type="dcterms:W3CDTF">2026-10-21T21:41:19Z</dcterms:modified>
</cp:coreProperties>
</file>