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6f2b14a50233405e"/>
    <p:sldId id="258" r:id="R1a74081968284f03"/>
    <p:sldId id="259" r:id="R15120315ce104d6b"/>
    <p:sldId id="260" r:id="R198d32a3b8554258"/>
    <p:sldId id="261" r:id="Ra9d6da514b7a4d54"/>
    <p:sldId id="262" r:id="Rc772f67106e046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55B12989-43EE-4390-9368-9C7289A90573}">
          <p14:sldIdLst>
            <p14:sldId id="257"/>
          </p14:sldIdLst>
        </p14:section>
        <p14:section name="Full-year results" id="{0CB91B10-E7B7-499B-9E12-956B584BCF0C}">
          <p14:sldIdLst>
            <p14:sldId id="258"/>
            <p14:sldId id="259"/>
            <p14:sldId id="260"/>
            <p14:sldId id="261"/>
          </p14:sldIdLst>
        </p14:section>
        <p14:section name="First half of 2026" id="{B63BF00F-C7C4-475D-ACF1-BD16B107777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6f2b14a50233405e" /><Relationship Type="http://schemas.openxmlformats.org/officeDocument/2006/relationships/slide" Target="/ppt/slides/slide3.xml" Id="R1a74081968284f03" /><Relationship Type="http://schemas.openxmlformats.org/officeDocument/2006/relationships/slide" Target="/ppt/slides/slide4.xml" Id="R15120315ce104d6b" /><Relationship Type="http://schemas.openxmlformats.org/officeDocument/2006/relationships/slide" Target="/ppt/slides/slide5.xml" Id="R198d32a3b8554258" /><Relationship Type="http://schemas.openxmlformats.org/officeDocument/2006/relationships/slide" Target="/ppt/slides/slide6.xml" Id="Ra9d6da514b7a4d54" /><Relationship Type="http://schemas.openxmlformats.org/officeDocument/2006/relationships/slide" Target="/ppt/slides/slide7.xml" Id="Rc772f67106e046d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3c3f2053ab409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6b5b8108084f4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e7510ca1b5459c" /></Relationships>
</file>

<file path=ppt/slideLayouts/slideLayout2.xml><?xml version="1.0" encoding="utf-8"?>
<p:sldLayout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508000" y="304800"/>
            <a:ext cx="11176000" cy="7112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A7EA44E2-2FED-4BAE-8B65-428F44AFA99C}" type="slidenum">
              <a:rPr lang="en-US"/>
              <a:t>‹#›</a:t>
            </a:fld>
            <a:endParaRPr lang="en-US"/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a="http://schemas.openxmlformats.org/drawingml/2006/main" xmlns:p="http://schemas.openxmlformats.org/presentationml/2006/main" preserve="1">
  <p:cSld name="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1066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762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4" name="TextBox 4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DB34F352-9F73-4503-A76A-E540AC49663A}" type="slidenum">
              <a:rPr lang="en-US"/>
              <a:t>‹#›</a:t>
            </a:fld>
            <a:endParaRPr lang="en-US"/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a="http://schemas.openxmlformats.org/drawingml/2006/main" xmlns:p="http://schemas.openxmlformats.org/presentationml/2006/main" preserve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286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subtitle</a:t>
            </a:r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1a37092aafe8443c" /><Relationship Type="http://schemas.openxmlformats.org/officeDocument/2006/relationships/slideLayout" Target="/ppt/slideLayouts/slideLayout3.xml" Id="R143323e99d9c4b16" /><Relationship Type="http://schemas.openxmlformats.org/officeDocument/2006/relationships/slideLayout" Target="/ppt/slideLayouts/slideLayout4.xml" Id="R6b1e10f89e9141fc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1a37092aafe8443c"/>
    <p:sldLayoutId id="2147483651" r:id="R143323e99d9c4b16"/>
    <p:sldLayoutId id="2147483652" r:id="R6b1e10f89e9141fc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1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/>
        <a:buChar char="•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5e537c76aa54d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28f2cb7504242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f70b5e7a184b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65456981ee4bc5" /><Relationship Type="http://schemas.openxmlformats.org/officeDocument/2006/relationships/chart" Target="/ppt/slides/charts/chart1.xml" Id="R43362ae2990841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f06fbe746345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8463d9f0d8411e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b8fdea9def7d43d4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Space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997</c:v>
                </c:pt>
                <c:pt idx="1">
                  <c:v>1154</c:v>
                </c:pt>
                <c:pt idx="2">
                  <c:v>653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Connectivity</c:v>
                </c:pt>
              </c:strCache>
            </c:strRef>
          </c:tx>
          <c:spPr>
            <a:solidFill xmlns:a="http://schemas.openxmlformats.org/drawingml/2006/main">
              <a:schemeClr val="accent2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1602</c:v>
                </c:pt>
                <c:pt idx="1">
                  <c:v>3849</c:v>
                </c:pt>
                <c:pt idx="2">
                  <c:v>7168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</c:v>
                </c:pt>
              </c:strCache>
            </c:strRef>
          </c:tx>
          <c:spPr>
            <a:solidFill xmlns:a="http://schemas.openxmlformats.org/drawingml/2006/main">
              <a:schemeClr val="accent3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1222</c:v>
                </c:pt>
                <c:pt idx="1">
                  <c:v>347</c:v>
                </c:pt>
                <c:pt idx="2">
                  <c:v>-1237</c:v>
                </c:pt>
              </c:numCache>
            </c:numRef>
          </c:val>
        </c:ser>
        <c:gapWidth val="80"/>
        <c:overlap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8000"/>
          <c:min val="-2000"/>
        </c:scaling>
        <c:delete val="0"/>
        <c:axPos val="l"/>
        <c:majorGridlines>
          <c:spPr>
            <a:ln xmlns:a="http://schemas.openxmlformats.org/drawingml/2006/main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&quot;$&quot;#,##0.0,&quot;B&quot;;(&quot;$&quot;#,##0.0,&quot;B&quot;)" sourceLinked="0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1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100" b="0">
              <a:solidFill>
                <a:schemeClr val="dk1"/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b8fdea9def7d43d4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4000"/>
            </a:lvl1pPr>
          </a:lstStyle>
          <a:p>
            <a:r>
              <a:rPr/>
              <a:t>Acme financial results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Board update, </a:t>
            </a:r>
            <a:r>
              <a:rPr/>
              <a:t>September 28,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Full-year results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Fiscal years 2023 to 2025, from the S-1/A filed June 3, 2026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DB34F352-9F73-4503-A76A-E540AC49663A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Revenue rose $4.7B in 2025 while costs rose $7.7B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5080000"/>
                <a:gridCol w="2032000"/>
                <a:gridCol w="2032000"/>
                <a:gridCol w="2032000"/>
              </a:tblGrid>
              <a:tr h="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USD millions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Fiscal year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2023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2024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10,387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14,015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18,674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Cost of 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6,110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7,996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9,451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Research and development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2,105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3,464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8,643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Selling, general and administrative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1,665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1,813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2,644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Restructuring charges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237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213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487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Impairment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3,775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costs and expenses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13,892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13,549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21,263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Operating income (loss)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0000"/>
                          </a:solidFill>
                          <a:latin typeface="+mn-lt"/>
                        </a:rPr>
                        <a:t>(3,505)</a:t>
                      </a:r>
                      <a:endParaRPr sz="1600" b="1" i="0" u="none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466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0000"/>
                          </a:solidFill>
                          <a:latin typeface="+mn-lt"/>
                        </a:rPr>
                        <a:t>(2,589)</a:t>
                      </a:r>
                      <a:endParaRPr sz="1600" b="1" i="0" u="none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operations. USD millions.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7EA44E2-2FED-4BAE-8B65-428F44AFA99C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carries adjusted EBITDA as AI turns negative</a:t>
            </a: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43362ae299084175"/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Adjusted EBITDA of $6.6B in 2025, up from $3.8B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Connectivity: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$7.2B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, from $1.6B in 2023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Space: $0.7B, down from $1.2B in 2024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AI: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–$1.2B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, from $1.2B in 2023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5461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segment adjusted EBITDA.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7EA44E2-2FED-4BAE-8B65-428F44AFA99C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profit did not cover AI losses in 2025</a:t>
            </a: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52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Space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rgbClr val="C00000"/>
                </a:solidFill>
                <a:latin typeface="+mn-lt"/>
              </a:rPr>
              <a:t>–$0.7B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279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Connectivity</a:t>
            </a:r>
            <a:endParaRPr sz="1600" b="1" i="0" u="none">
              <a:solidFill>
                <a:schemeClr val="lt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$4.4B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4064000"/>
            <a:ext cx="3302000" cy="889000"/>
          </a:xfrm>
          <a:prstGeom prst="roundRect">
            <a:avLst>
              <a:gd name="adj" fmla="val 11429"/>
            </a:avLst>
          </a:prstGeom>
          <a:solidFill>
            <a:schemeClr val="accent3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AI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rgbClr val="C00000"/>
                </a:solidFill>
                <a:latin typeface="+mn-lt"/>
              </a:rPr>
              <a:t>–$6.4B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937000" y="1968500"/>
            <a:ext cx="3556000" cy="11430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5" name="Shape 5"/>
          <p:cNvSpPr>
            <a:spLocks/>
          </p:cNvSpPr>
          <p:nvPr/>
        </p:nvSpPr>
        <p:spPr>
          <a:xfrm>
            <a:off x="3937000" y="3238500"/>
            <a:ext cx="3556000" cy="0"/>
          </a:xfrm>
          <a:prstGeom prst="line">
            <a:avLst/>
          </a:prstGeom>
          <a:ln w="31750">
            <a:solidFill>
              <a:schemeClr val="accent1"/>
            </a:solidFill>
            <a:headEnd type="oval"/>
            <a:tailEnd type="triangle"/>
          </a:ln>
        </p:spPr>
      </p:sp>
      <p:sp>
        <p:nvSpPr>
          <p:cNvPr id="6" name="Shape 6"/>
          <p:cNvSpPr>
            <a:spLocks/>
          </p:cNvSpPr>
          <p:nvPr/>
        </p:nvSpPr>
        <p:spPr>
          <a:xfrm flipV="1">
            <a:off x="3937000" y="3365500"/>
            <a:ext cx="3556000" cy="1143000"/>
          </a:xfrm>
          <a:prstGeom prst="line">
            <a:avLst/>
          </a:prstGeom>
          <a:ln w="19050">
            <a:solidFill>
              <a:srgbClr val="C00000"/>
            </a:solidFill>
            <a:prstDash val="dash"/>
            <a:headEnd type="oval"/>
            <a:tailEnd type="stealth"/>
          </a:ln>
        </p:spPr>
      </p:sp>
      <p:sp>
        <p:nvSpPr>
          <p:cNvPr id="10" name="TextBox 10"/>
          <p:cNvSpPr>
            <a:spLocks/>
          </p:cNvSpPr>
          <p:nvPr/>
        </p:nvSpPr>
        <p:spPr>
          <a:xfrm>
            <a:off x="7620000" y="2540000"/>
            <a:ext cx="4064000" cy="1397000"/>
          </a:xfrm>
          <a:prstGeom prst="hexagon">
            <a:avLst/>
          </a:prstGeom>
          <a:solidFill>
            <a:schemeClr val="lt2"/>
          </a:solidFill>
          <a:ln w="12700">
            <a:solidFill>
              <a:schemeClr val="dk1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Operating loss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 u="none">
                <a:solidFill>
                  <a:srgbClr val="C00000"/>
                </a:solidFill>
                <a:latin typeface="+mn-lt"/>
              </a:rPr>
              <a:t>–$2.6B</a:t>
            </a:r>
            <a:endParaRPr sz="24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reportable segments, fiscal 2025 operating income (loss).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7EA44E2-2FED-4BAE-8B65-428F44AFA99C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First-half revenue rose to $12.5B as losses widened</a:t>
            </a:r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First half of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Revenue: $8.1B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development: $3.5B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loss: $0.9B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Net loss: $1.5B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First half of 2026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Revenue: </a:t>
            </a:r>
            <a:r>
              <a:rPr sz="1600" b="0" i="0" u="none">
                <a:solidFill>
                  <a:schemeClr val="accent6">
                    <a:lumMod val="75000"/>
                  </a:schemeClr>
                </a:solidFill>
                <a:latin typeface="+mn-lt"/>
              </a:rPr>
              <a:t>$12.5B</a:t>
            </a:r>
            <a:endParaRPr sz="1600" b="0" i="0" u="none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development: $7.1B</a:t>
            </a:r>
            <a:endParaRPr sz="1600" b="0" i="0" u="none">
              <a:solidFill>
                <a:schemeClr val="accent6">
                  <a:lumMod val="75000"/>
                </a:schemeClr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loss: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$2.1B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Net loss: </a:t>
            </a:r>
            <a:r>
              <a:rPr sz="1600" b="0" i="0" u="none">
                <a:solidFill>
                  <a:srgbClr val="C00000"/>
                </a:solidFill>
                <a:latin typeface="+mn-lt"/>
              </a:rPr>
              <a:t>$4.8B</a:t>
            </a:r>
            <a:endParaRPr sz="1600" b="0" i="0" u="none">
              <a:solidFill>
                <a:srgbClr val="C00000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10-Q filed August 4, 2026, consolidated statements of operations.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A7EA44E2-2FED-4BAE-8B65-428F44AFA99C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Default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Board Update</dc:title>
  <dcterms:created xsi:type="dcterms:W3CDTF">2026-10-27T16:00:00Z</dcterms:created>
  <dcterms:modified xsi:type="dcterms:W3CDTF">2026-10-27T16:00:00Z</dcterms:modified>
</cp:coreProperties>
</file>